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Hello judges, we're Team ATHAR. Athar is Arabic for "trace".
In a multi-cloud government or enterprise estate, there's a simple question nobody can answer today: who can do what, and since when? And even when a governance report exists, nobody can prove its findings weren't edited afterwards.
ATHAR answers both. It unifies AWS, Azure and GCP access into one model, ranks every identity by measured blast radius, and anchors every finding to a Merkle root on-chain, so an auditor can verify it independently.
The visual says it all: three clouds and an HR feed, traced into one model, rolled up into a root you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Government and enterprise shared-services teams run identity across AWS, Azure and GCP, each in its own console. There's no unified view.
Meanwhile access accumulates silently: role creep, offboarding that misses a cloud, and accounts that end up as superusers across more than one provider. Nobody can answer "who can do what, and since when."
And when a governance report does exist, an auditor or a board has no way to know the findings weren't edited after the fact.
This hits cloud security and governance teams, compliance officers, auditors and CISOs.
So our objective has three measurable parts: one — unify all three clouds plus HR into one canonical permission model; two — rank risk by measured blast radius, with the history of how it happened; three — make every finding independently verifiable against an on-chain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Here's the full pipeline, left to right.
One: we ingest native AWS, Azure and GCP IAM exports, plus an HR feed.
Two: the normaliser and linker build one canonical permission model — and every row keeps its raw provider JSON, so any finding can be traced back to the source.
Three: the rule engine. Eleven detection rules, R0 to R10 — orphaned access of departed employees, cross-cloud superusers, self-escalation chains — feed an access graph and a blast-radius scorer. A drift engine diffs the estate month over month. Output goes to the findings store with severity, score and action.
Four: three things happen. Each scan and decision is Merkle-committed to our GovernanceLedger contract. LLM agents explain findings at three altitudes — headline, causal explanation, raw evidence — but they never decide. And remediation is agent-drafted least privilege that a human must approve, with separation of duties enforced.
Five: a dashboard and CSV, JSON and PDF exports, each re-verifiable against the on-chain root.
Two things make this different: the rule engine, not the LLM, owns every decision — and if the LLM is switched off, templates take over. And every finding is anchored, so tampering is detectable.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We didn't just test ATHAR — we attacked it before submitting.
On the left: 1,859 backend, 167 frontend and 21 smart-contract tests; 256 Foundry fuzz runs on the Merkle tree, plus a real seven-node proof checked by the contract itself; 61 robustness fixtures; 11 decoys that look risky but are legitimate through a governance-register entry; and two rounds of adversarial review that found five real flaws — including an open redirect and a ledger job that could commit twice — all fixed. From a clean machine with only Docker and make, it reaches the dashboard in 2 minutes 27 seconds.
On the right, four attacks and what happened. Edit one stored severity: verification fails, both roots are printed, the badge turns red. Let a real local model propose grants it wasn't shown: rejected with four named violations, and findings, scores and the root stayed byte-identical. Feed it broken or wrong-provider files: structured errors, no stack traces. Run the demo twice: twelve "already anchored" lines, nothing duplicated.
We measured a fix end to end: a departed engineer's plan, approved by a second account, applied and re-scanned — risk 100 to 0, blast radius 69.3% to zero.
And the limits: the ledger proves a finding wasn't edited, not that it's right. The writer key sits on one host today. R7 fires on nothing because the simulated estate saturates every department's breadth — we disclose it rather than tune it. And "apply" changes the simulated estate; in production that step becomes a pull request against infrastructure-as-code.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What did we get? On the demo estate at month 12: 507 identities — 382 people and 125 service accounts — and 99 open findings, 21 of them critical.
Findings grew from 47 in month 1 to 99 in month 12, and ATHAR traced that to a broken offboarding process: one department granted 500 permissions over the year and revoked only 27 on departure.
That maps directly to our objectives: 735 principals linked into 507 identities and 104,593 grant rows in one model; risk ranked by blast radius and explained; a tamper-evident trail; and a system that survives broken input and a second run without duplicating anything.
For a governance team, that means one place to answer who can do what, root causes instead of alerts, human-approved fixes, and evidence an auditor can check.
Limits today: synthetic data, a single-host key, and R7 unexercised. Next: HSM-backed keys, per-approver wallets, a permissioned chain, and a real-cloud pilot.
Our takeaway: don't trust the report — verify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777240"/>
            <a:ext cx="4572000" cy="292608"/>
          </a:xfrm>
          <a:prstGeom prst="rect">
            <a:avLst/>
          </a:prstGeom>
          <a:noFill/>
          <a:ln/>
        </p:spPr>
        <p:txBody>
          <a:bodyPr wrap="square" lIns="0" tIns="0" rIns="0" bIns="0" rtlCol="0" anchor="t"/>
          <a:lstStyle/>
          <a:p>
            <a:pPr indent="0" marL="0">
              <a:buNone/>
            </a:pPr>
            <a:r>
              <a:rPr lang="en-US" sz="1400" b="1" spc="500" kern="0" dirty="0">
                <a:solidFill>
                  <a:srgbClr val="55E6FF"/>
                </a:solidFill>
                <a:latin typeface="Inter" pitchFamily="34" charset="0"/>
                <a:ea typeface="Inter" pitchFamily="34" charset="-122"/>
                <a:cs typeface="Inter" pitchFamily="34" charset="-120"/>
              </a:rPr>
              <a:t>GISEC HACKATHON</a:t>
            </a:r>
            <a:endParaRPr lang="en-US" sz="1400" dirty="0"/>
          </a:p>
        </p:txBody>
      </p:sp>
      <p:sp>
        <p:nvSpPr>
          <p:cNvPr id="3" name="Text 1"/>
          <p:cNvSpPr txBox="1"/>
          <p:nvPr/>
        </p:nvSpPr>
        <p:spPr>
          <a:xfrm>
            <a:off x="585216" y="1170432"/>
            <a:ext cx="3931920" cy="1097280"/>
          </a:xfrm>
          <a:prstGeom prst="rect">
            <a:avLst/>
          </a:prstGeom>
          <a:noFill/>
          <a:ln/>
        </p:spPr>
        <p:txBody>
          <a:bodyPr wrap="square" lIns="0" tIns="0" rIns="0" bIns="0" rtlCol="0" anchor="ctr"/>
          <a:lstStyle/>
          <a:p>
            <a:pPr indent="0" marL="0">
              <a:buNone/>
            </a:pPr>
            <a:r>
              <a:rPr lang="en-US" sz="8000" b="1" dirty="0">
                <a:solidFill>
                  <a:srgbClr val="FFFFFF"/>
                </a:solidFill>
                <a:latin typeface="Inter" pitchFamily="34" charset="0"/>
                <a:ea typeface="Inter" pitchFamily="34" charset="-122"/>
                <a:cs typeface="Inter" pitchFamily="34" charset="-120"/>
              </a:rPr>
              <a:t>ATHAR</a:t>
            </a:r>
            <a:endParaRPr lang="en-US" sz="8000" dirty="0"/>
          </a:p>
        </p:txBody>
      </p:sp>
      <p:pic>
        <p:nvPicPr>
          <p:cNvPr id="4" name="Image 0" descr="Arabic word athar, meaning trace">    </p:cNvPr>
          <p:cNvPicPr>
            <a:picLocks noChangeAspect="1"/>
          </p:cNvPicPr>
          <p:nvPr/>
        </p:nvPicPr>
        <p:blipFill>
          <a:blip r:embed="rId2"/>
          <a:stretch>
            <a:fillRect/>
          </a:stretch>
        </p:blipFill>
        <p:spPr>
          <a:xfrm>
            <a:off x="4206240" y="1243584"/>
            <a:ext cx="764886" cy="868680"/>
          </a:xfrm>
          <a:prstGeom prst="rect">
            <a:avLst/>
          </a:prstGeom>
        </p:spPr>
      </p:pic>
      <p:sp>
        <p:nvSpPr>
          <p:cNvPr id="5" name="Text 2"/>
          <p:cNvSpPr txBox="1"/>
          <p:nvPr/>
        </p:nvSpPr>
        <p:spPr>
          <a:xfrm>
            <a:off x="658368" y="2304288"/>
            <a:ext cx="3657600" cy="274320"/>
          </a:xfrm>
          <a:prstGeom prst="rect">
            <a:avLst/>
          </a:prstGeom>
          <a:noFill/>
          <a:ln/>
        </p:spPr>
        <p:txBody>
          <a:bodyPr wrap="square" lIns="0" tIns="0" rIns="0" bIns="0" rtlCol="0" anchor="t"/>
          <a:lstStyle/>
          <a:p>
            <a:pPr indent="0" marL="0">
              <a:buNone/>
            </a:pPr>
            <a:r>
              <a:rPr lang="en-US" sz="1400" i="1" dirty="0">
                <a:solidFill>
                  <a:srgbClr val="A3B0CF"/>
                </a:solidFill>
                <a:latin typeface="Inter" pitchFamily="34" charset="0"/>
                <a:ea typeface="Inter" pitchFamily="34" charset="-122"/>
                <a:cs typeface="Inter" pitchFamily="34" charset="-120"/>
              </a:rPr>
              <a:t>Arabic for “trace”</a:t>
            </a:r>
            <a:endParaRPr lang="en-US" sz="1400" dirty="0"/>
          </a:p>
        </p:txBody>
      </p:sp>
      <p:sp>
        <p:nvSpPr>
          <p:cNvPr id="6" name="Text 3"/>
          <p:cNvSpPr txBox="1"/>
          <p:nvPr/>
        </p:nvSpPr>
        <p:spPr>
          <a:xfrm>
            <a:off x="640080" y="2926080"/>
            <a:ext cx="5486400" cy="822960"/>
          </a:xfrm>
          <a:prstGeom prst="rect">
            <a:avLst/>
          </a:prstGeom>
          <a:noFill/>
          <a:ln/>
        </p:spPr>
        <p:txBody>
          <a:bodyPr wrap="square" lIns="0" tIns="0" rIns="0" bIns="0" rtlCol="0" anchor="t"/>
          <a:lstStyle/>
          <a:p>
            <a:pPr indent="0" marL="0">
              <a:lnSpc>
                <a:spcPct val="110000"/>
              </a:lnSpc>
              <a:buNone/>
            </a:pPr>
            <a:r>
              <a:rPr lang="en-US" sz="2100" b="1" dirty="0">
                <a:solidFill>
                  <a:srgbClr val="FFFFFF"/>
                </a:solidFill>
                <a:latin typeface="Inter" pitchFamily="34" charset="0"/>
                <a:ea typeface="Inter" pitchFamily="34" charset="-122"/>
                <a:cs typeface="Inter" pitchFamily="34" charset="-120"/>
              </a:rPr>
              <a:t>Who can do what, since when —</a:t>
            </a:r>
            <a:endParaRPr lang="en-US" sz="2100" dirty="0"/>
          </a:p>
          <a:p>
            <a:pPr indent="0" marL="0">
              <a:lnSpc>
                <a:spcPct val="110000"/>
              </a:lnSpc>
              <a:buNone/>
            </a:pPr>
            <a:r>
              <a:rPr lang="en-US" sz="2100" b="1" dirty="0">
                <a:solidFill>
                  <a:srgbClr val="55E6FF"/>
                </a:solidFill>
                <a:latin typeface="Inter" pitchFamily="34" charset="0"/>
                <a:ea typeface="Inter" pitchFamily="34" charset="-122"/>
                <a:cs typeface="Inter" pitchFamily="34" charset="-120"/>
              </a:rPr>
              <a:t>and proof the answer wasn’t changed.</a:t>
            </a:r>
            <a:endParaRPr lang="en-US" sz="2100" dirty="0"/>
          </a:p>
        </p:txBody>
      </p:sp>
      <p:sp>
        <p:nvSpPr>
          <p:cNvPr id="7" name="Text 4"/>
          <p:cNvSpPr txBox="1"/>
          <p:nvPr/>
        </p:nvSpPr>
        <p:spPr>
          <a:xfrm>
            <a:off x="640080" y="4041648"/>
            <a:ext cx="4754880" cy="731520"/>
          </a:xfrm>
          <a:prstGeom prst="rect">
            <a:avLst/>
          </a:prstGeom>
          <a:noFill/>
          <a:ln/>
        </p:spPr>
        <p:txBody>
          <a:bodyPr wrap="square" lIns="0" tIns="0" rIns="0" bIns="0" rtlCol="0" anchor="t"/>
          <a:lstStyle/>
          <a:p>
            <a:pPr indent="0" marL="0">
              <a:lnSpc>
                <a:spcPct val="115000"/>
              </a:lnSpc>
              <a:buNone/>
            </a:pPr>
            <a:r>
              <a:rPr lang="en-US" sz="1500" dirty="0">
                <a:solidFill>
                  <a:srgbClr val="A3B0CF"/>
                </a:solidFill>
                <a:latin typeface="Inter" pitchFamily="34" charset="0"/>
                <a:ea typeface="Inter" pitchFamily="34" charset="-122"/>
                <a:cs typeface="Inter" pitchFamily="34" charset="-120"/>
              </a:rPr>
              <a:t>Unified AWS · Azure · GCP identity governance — blast-radius-ranked risk, proven on real cloud exports, with a verifiable on-chain audit trail.</a:t>
            </a:r>
            <a:endParaRPr lang="en-US" sz="1500" dirty="0"/>
          </a:p>
        </p:txBody>
      </p:sp>
      <p:sp>
        <p:nvSpPr>
          <p:cNvPr id="8" name="Text 5"/>
          <p:cNvSpPr txBox="1"/>
          <p:nvPr/>
        </p:nvSpPr>
        <p:spPr>
          <a:xfrm>
            <a:off x="640080" y="5074920"/>
            <a:ext cx="2743200" cy="237744"/>
          </a:xfrm>
          <a:prstGeom prst="rect">
            <a:avLst/>
          </a:prstGeom>
          <a:noFill/>
          <a:ln/>
        </p:spPr>
        <p:txBody>
          <a:bodyPr wrap="square" lIns="0" tIns="0" rIns="0" bIns="0" rtlCol="0" anchor="t"/>
          <a:lstStyle/>
          <a:p>
            <a:pPr indent="0" marL="0">
              <a:buNone/>
            </a:pPr>
            <a:r>
              <a:rPr lang="en-US" sz="1100" b="1" spc="400" kern="0" dirty="0">
                <a:solidFill>
                  <a:srgbClr val="8B7CFF"/>
                </a:solidFill>
                <a:latin typeface="Inter" pitchFamily="34" charset="0"/>
                <a:ea typeface="Inter" pitchFamily="34" charset="-122"/>
                <a:cs typeface="Inter" pitchFamily="34" charset="-120"/>
              </a:rPr>
              <a:t>TEAM</a:t>
            </a:r>
            <a:endParaRPr lang="en-US" sz="1100" dirty="0"/>
          </a:p>
        </p:txBody>
      </p:sp>
      <p:sp>
        <p:nvSpPr>
          <p:cNvPr id="9" name="Text 6"/>
          <p:cNvSpPr txBox="1"/>
          <p:nvPr/>
        </p:nvSpPr>
        <p:spPr>
          <a:xfrm>
            <a:off x="640080" y="5394960"/>
            <a:ext cx="5303520" cy="603504"/>
          </a:xfrm>
          <a:prstGeom prst="rect">
            <a:avLst/>
          </a:prstGeom>
          <a:noFill/>
          <a:ln/>
        </p:spPr>
        <p:txBody>
          <a:bodyPr wrap="square" lIns="0" tIns="0" rIns="0" bIns="0" rtlCol="0" anchor="t"/>
          <a:lstStyle/>
          <a:p>
            <a:pPr indent="0" marL="0">
              <a:lnSpc>
                <a:spcPct val="120000"/>
              </a:lnSpc>
              <a:buNone/>
            </a:pPr>
            <a:r>
              <a:rPr lang="en-US" sz="1500" dirty="0">
                <a:solidFill>
                  <a:srgbClr val="FFFFFF"/>
                </a:solidFill>
                <a:latin typeface="Inter" pitchFamily="34" charset="0"/>
                <a:ea typeface="Inter" pitchFamily="34" charset="-122"/>
                <a:cs typeface="Inter" pitchFamily="34" charset="-120"/>
              </a:rPr>
              <a:t>Raghubir Prasad (Captain)  ·  Sachin Premkumar</a:t>
            </a:r>
            <a:endParaRPr lang="en-US" sz="1500" dirty="0"/>
          </a:p>
          <a:p>
            <a:pPr indent="0" marL="0">
              <a:lnSpc>
                <a:spcPct val="120000"/>
              </a:lnSpc>
              <a:buNone/>
            </a:pPr>
            <a:r>
              <a:rPr lang="en-US" sz="1500" dirty="0">
                <a:solidFill>
                  <a:srgbClr val="FFFFFF"/>
                </a:solidFill>
                <a:latin typeface="Inter" pitchFamily="34" charset="0"/>
                <a:ea typeface="Inter" pitchFamily="34" charset="-122"/>
                <a:cs typeface="Inter" pitchFamily="34" charset="-120"/>
              </a:rPr>
              <a:t>Nishal Ahmed  ·  Sai Uday  ·  Mohammed Ruknuddin</a:t>
            </a:r>
            <a:endParaRPr lang="en-US" sz="1500" dirty="0"/>
          </a:p>
        </p:txBody>
      </p:sp>
      <p:sp>
        <p:nvSpPr>
          <p:cNvPr id="10" name="Text 7"/>
          <p:cNvSpPr txBox="1"/>
          <p:nvPr/>
        </p:nvSpPr>
        <p:spPr>
          <a:xfrm>
            <a:off x="640080" y="6053328"/>
            <a:ext cx="5303520" cy="256032"/>
          </a:xfrm>
          <a:prstGeom prst="rect">
            <a:avLst/>
          </a:prstGeom>
          <a:noFill/>
          <a:ln/>
        </p:spPr>
        <p:txBody>
          <a:bodyPr wrap="square" lIns="0" tIns="0" rIns="0" bIns="0" rtlCol="0" anchor="t"/>
          <a:lstStyle/>
          <a:p>
            <a:pPr indent="0" marL="0">
              <a:buNone/>
            </a:pPr>
            <a:r>
              <a:rPr lang="en-US" sz="1200" dirty="0">
                <a:solidFill>
                  <a:srgbClr val="A3B0CF"/>
                </a:solidFill>
                <a:latin typeface="Inter" pitchFamily="34" charset="0"/>
                <a:ea typeface="Inter" pitchFamily="34" charset="-122"/>
                <a:cs typeface="Inter" pitchFamily="34" charset="-120"/>
              </a:rPr>
              <a:t>BITS Pilani, Dubai Campus  ·  Advisor: Dr Ashish Gupta</a:t>
            </a:r>
            <a:endParaRPr lang="en-US" sz="1200" dirty="0"/>
          </a:p>
        </p:txBody>
      </p:sp>
      <p:pic>
        <p:nvPicPr>
          <p:cNvPr id="11" name="Image 1" descr="Traces from AWS, Azure, GCP and HR converge on one model and roll up into a Merkle root">    </p:cNvPr>
          <p:cNvPicPr>
            <a:picLocks noChangeAspect="1"/>
          </p:cNvPicPr>
          <p:nvPr/>
        </p:nvPicPr>
        <p:blipFill>
          <a:blip r:embed="rId3"/>
          <a:stretch>
            <a:fillRect/>
          </a:stretch>
        </p:blipFill>
        <p:spPr>
          <a:xfrm>
            <a:off x="6035040" y="914400"/>
            <a:ext cx="5431536" cy="4937760"/>
          </a:xfrm>
          <a:prstGeom prst="rect">
            <a:avLst/>
          </a:prstGeom>
        </p:spPr>
      </p:pic>
      <p:sp>
        <p:nvSpPr>
          <p:cNvPr id="12" name="Text 8"/>
          <p:cNvSpPr txBox="1"/>
          <p:nvPr/>
        </p:nvSpPr>
        <p:spPr>
          <a:xfrm>
            <a:off x="6281928" y="1622146"/>
            <a:ext cx="559613" cy="559613"/>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AWS</a:t>
            </a:r>
            <a:endParaRPr lang="en-US" sz="1150" dirty="0"/>
          </a:p>
        </p:txBody>
      </p:sp>
      <p:sp>
        <p:nvSpPr>
          <p:cNvPr id="13" name="Text 9"/>
          <p:cNvSpPr txBox="1"/>
          <p:nvPr/>
        </p:nvSpPr>
        <p:spPr>
          <a:xfrm>
            <a:off x="6281928" y="2609698"/>
            <a:ext cx="559613" cy="559613"/>
          </a:xfrm>
          <a:prstGeom prst="rect">
            <a:avLst/>
          </a:prstGeom>
          <a:no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Azure</a:t>
            </a:r>
            <a:endParaRPr lang="en-US" sz="1000" dirty="0"/>
          </a:p>
        </p:txBody>
      </p:sp>
      <p:sp>
        <p:nvSpPr>
          <p:cNvPr id="14" name="Text 10"/>
          <p:cNvSpPr txBox="1"/>
          <p:nvPr/>
        </p:nvSpPr>
        <p:spPr>
          <a:xfrm>
            <a:off x="6281928" y="3597250"/>
            <a:ext cx="559613" cy="559613"/>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GCP</a:t>
            </a:r>
            <a:endParaRPr lang="en-US" sz="1150" dirty="0"/>
          </a:p>
        </p:txBody>
      </p:sp>
      <p:sp>
        <p:nvSpPr>
          <p:cNvPr id="15" name="Text 11"/>
          <p:cNvSpPr txBox="1"/>
          <p:nvPr/>
        </p:nvSpPr>
        <p:spPr>
          <a:xfrm>
            <a:off x="6281928" y="4584802"/>
            <a:ext cx="559613" cy="559613"/>
          </a:xfrm>
          <a:prstGeom prst="rect">
            <a:avLst/>
          </a:prstGeom>
          <a:noFill/>
          <a:ln/>
        </p:spPr>
        <p:txBody>
          <a:bodyPr wrap="square" lIns="0" tIns="0" rIns="0" bIns="0" rtlCol="0" anchor="ctr"/>
          <a:lstStyle/>
          <a:p>
            <a:pPr algn="ctr" indent="0" marL="0">
              <a:buNone/>
            </a:pPr>
            <a:r>
              <a:rPr lang="en-US" sz="1150" b="1" dirty="0">
                <a:solidFill>
                  <a:srgbClr val="C9C2FF"/>
                </a:solidFill>
                <a:latin typeface="Inter" pitchFamily="34" charset="0"/>
                <a:ea typeface="Inter" pitchFamily="34" charset="-122"/>
                <a:cs typeface="Inter" pitchFamily="34" charset="-120"/>
              </a:rPr>
              <a:t>HR</a:t>
            </a:r>
            <a:endParaRPr lang="en-US" sz="1150" dirty="0"/>
          </a:p>
        </p:txBody>
      </p:sp>
      <p:sp>
        <p:nvSpPr>
          <p:cNvPr id="16" name="Text 12"/>
          <p:cNvSpPr txBox="1"/>
          <p:nvPr/>
        </p:nvSpPr>
        <p:spPr>
          <a:xfrm>
            <a:off x="7799832" y="2926080"/>
            <a:ext cx="914400" cy="914400"/>
          </a:xfrm>
          <a:prstGeom prst="rect">
            <a:avLst/>
          </a:prstGeom>
          <a:noFill/>
          <a:ln/>
        </p:spPr>
        <p:txBody>
          <a:bodyPr wrap="square" lIns="0" tIns="0" rIns="0" bIns="0" rtlCol="0" anchor="ctr"/>
          <a:lstStyle/>
          <a:p>
            <a:pPr algn="ctr" indent="0" marL="0">
              <a:buNone/>
            </a:pPr>
            <a:r>
              <a:rPr lang="en-US" sz="1100" b="1" spc="200" kern="0" dirty="0">
                <a:solidFill>
                  <a:srgbClr val="55E6FF"/>
                </a:solidFill>
                <a:latin typeface="Inter" pitchFamily="34" charset="0"/>
                <a:ea typeface="Inter" pitchFamily="34" charset="-122"/>
                <a:cs typeface="Inter" pitchFamily="34" charset="-120"/>
              </a:rPr>
              <a:t>ONE</a:t>
            </a:r>
            <a:endParaRPr lang="en-US" sz="1100" dirty="0"/>
          </a:p>
          <a:p>
            <a:pPr algn="ctr" indent="0" marL="0">
              <a:buNone/>
            </a:pPr>
            <a:r>
              <a:rPr lang="en-US" sz="1100" b="1" spc="200" kern="0" dirty="0">
                <a:solidFill>
                  <a:srgbClr val="55E6FF"/>
                </a:solidFill>
                <a:latin typeface="Inter" pitchFamily="34" charset="0"/>
                <a:ea typeface="Inter" pitchFamily="34" charset="-122"/>
                <a:cs typeface="Inter" pitchFamily="34" charset="-120"/>
              </a:rPr>
              <a:t>MODEL</a:t>
            </a:r>
            <a:endParaRPr lang="en-US" sz="1100" dirty="0"/>
          </a:p>
        </p:txBody>
      </p:sp>
      <p:sp>
        <p:nvSpPr>
          <p:cNvPr id="17" name="Text 13"/>
          <p:cNvSpPr txBox="1"/>
          <p:nvPr/>
        </p:nvSpPr>
        <p:spPr>
          <a:xfrm>
            <a:off x="9034272" y="2057400"/>
            <a:ext cx="914400" cy="228600"/>
          </a:xfrm>
          <a:prstGeom prst="rect">
            <a:avLst/>
          </a:prstGeom>
          <a:noFill/>
          <a:ln/>
        </p:spPr>
        <p:txBody>
          <a:bodyPr wrap="square" lIns="0" tIns="0" rIns="0" bIns="0" rtlCol="0" anchor="t"/>
          <a:lstStyle/>
          <a:p>
            <a:pPr algn="ctr" indent="0" marL="0">
              <a:buNone/>
            </a:pPr>
            <a:r>
              <a:rPr lang="en-US" sz="1000" b="1" spc="200" kern="0" dirty="0">
                <a:solidFill>
                  <a:srgbClr val="A3B0CF"/>
                </a:solidFill>
                <a:latin typeface="Inter" pitchFamily="34" charset="0"/>
                <a:ea typeface="Inter" pitchFamily="34" charset="-122"/>
                <a:cs typeface="Inter" pitchFamily="34" charset="-120"/>
              </a:rPr>
              <a:t>FINDINGS</a:t>
            </a:r>
            <a:endParaRPr lang="en-US" sz="1000" dirty="0"/>
          </a:p>
        </p:txBody>
      </p:sp>
      <p:sp>
        <p:nvSpPr>
          <p:cNvPr id="18" name="Text 14"/>
          <p:cNvSpPr txBox="1"/>
          <p:nvPr/>
        </p:nvSpPr>
        <p:spPr>
          <a:xfrm>
            <a:off x="10361981" y="3728923"/>
            <a:ext cx="1188720" cy="228600"/>
          </a:xfrm>
          <a:prstGeom prst="rect">
            <a:avLst/>
          </a:prstGeom>
          <a:noFill/>
          <a:ln/>
        </p:spPr>
        <p:txBody>
          <a:bodyPr wrap="square" lIns="0" tIns="0" rIns="0" bIns="0" rtlCol="0" anchor="t"/>
          <a:lstStyle/>
          <a:p>
            <a:pPr algn="ctr" indent="0" marL="0">
              <a:buNone/>
            </a:pPr>
            <a:r>
              <a:rPr lang="en-US" sz="1000" b="1" spc="200" kern="0" dirty="0">
                <a:solidFill>
                  <a:srgbClr val="55E6FF"/>
                </a:solidFill>
                <a:latin typeface="Inter" pitchFamily="34" charset="0"/>
                <a:ea typeface="Inter" pitchFamily="34" charset="-122"/>
                <a:cs typeface="Inter" pitchFamily="34" charset="-120"/>
              </a:rPr>
              <a:t>MERKLE ROOT</a:t>
            </a:r>
            <a:endParaRPr lang="en-US" sz="1000" dirty="0"/>
          </a:p>
        </p:txBody>
      </p:sp>
      <p:sp>
        <p:nvSpPr>
          <p:cNvPr id="19" name="Shape 15"/>
          <p:cNvSpPr/>
          <p:nvPr/>
        </p:nvSpPr>
        <p:spPr>
          <a:xfrm>
            <a:off x="10085832" y="4304995"/>
            <a:ext cx="1554480" cy="329184"/>
          </a:xfrm>
          <a:prstGeom prst="roundRect">
            <a:avLst>
              <a:gd name="adj" fmla="val 50000"/>
            </a:avLst>
          </a:prstGeom>
          <a:solidFill>
            <a:srgbClr val="10304A"/>
          </a:solidFill>
          <a:ln w="9525">
            <a:solidFill>
              <a:srgbClr val="55E6FF"/>
            </a:solidFill>
            <a:prstDash val="solid"/>
          </a:ln>
        </p:spPr>
      </p:sp>
      <p:sp>
        <p:nvSpPr>
          <p:cNvPr id="20" name="Text 16"/>
          <p:cNvSpPr txBox="1"/>
          <p:nvPr/>
        </p:nvSpPr>
        <p:spPr>
          <a:xfrm>
            <a:off x="10085832" y="4304995"/>
            <a:ext cx="1554480" cy="329184"/>
          </a:xfrm>
          <a:prstGeom prst="rect">
            <a:avLst/>
          </a:prstGeom>
          <a:noFill/>
          <a:ln/>
        </p:spPr>
        <p:txBody>
          <a:bodyPr wrap="square" lIns="0" tIns="0" rIns="0" bIns="0" rtlCol="0" anchor="ctr"/>
          <a:lstStyle/>
          <a:p>
            <a:pPr algn="ctr" indent="0" marL="0">
              <a:buNone/>
            </a:pPr>
            <a:r>
              <a:rPr lang="en-US" sz="1100" b="1" dirty="0">
                <a:solidFill>
                  <a:srgbClr val="55E6FF"/>
                </a:solidFill>
                <a:latin typeface="Inter" pitchFamily="34" charset="0"/>
                <a:ea typeface="Inter" pitchFamily="34" charset="-122"/>
                <a:cs typeface="Inter" pitchFamily="34" charset="-120"/>
              </a:rPr>
              <a:t>✓  verified on-chain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02  ·  PROJECT OBJECTIVE</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02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Nobody can say who can do what — or since when</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In shared-services cloud estates, access outlives its purpose — and a report nobody can verify is a claim, not evidence.</a:t>
            </a:r>
            <a:endParaRPr lang="en-US" sz="1500" dirty="0"/>
          </a:p>
        </p:txBody>
      </p:sp>
      <p:sp>
        <p:nvSpPr>
          <p:cNvPr id="6" name="Shape 4"/>
          <p:cNvSpPr/>
          <p:nvPr/>
        </p:nvSpPr>
        <p:spPr>
          <a:xfrm>
            <a:off x="548640" y="1874520"/>
            <a:ext cx="5257800" cy="3611880"/>
          </a:xfrm>
          <a:prstGeom prst="roundRect">
            <a:avLst>
              <a:gd name="adj" fmla="val 2532"/>
            </a:avLst>
          </a:prstGeom>
          <a:solidFill>
            <a:srgbClr val="121A33"/>
          </a:solidFill>
          <a:ln w="9525">
            <a:solidFill>
              <a:srgbClr val="2A3563"/>
            </a:solidFill>
            <a:prstDash val="solid"/>
          </a:ln>
        </p:spPr>
      </p:sp>
      <p:sp>
        <p:nvSpPr>
          <p:cNvPr id="7" name="Text 5"/>
          <p:cNvSpPr txBox="1"/>
          <p:nvPr/>
        </p:nvSpPr>
        <p:spPr>
          <a:xfrm>
            <a:off x="822960" y="2075688"/>
            <a:ext cx="2743200" cy="237744"/>
          </a:xfrm>
          <a:prstGeom prst="rect">
            <a:avLst/>
          </a:prstGeom>
          <a:noFill/>
          <a:ln/>
        </p:spPr>
        <p:txBody>
          <a:bodyPr wrap="square" lIns="0" tIns="0" rIns="0" bIns="0" rtlCol="0" anchor="t"/>
          <a:lstStyle/>
          <a:p>
            <a:pPr indent="0" marL="0">
              <a:buNone/>
            </a:pPr>
            <a:r>
              <a:rPr lang="en-US" sz="1100" b="1" spc="300" kern="0" dirty="0">
                <a:solidFill>
                  <a:srgbClr val="55E6FF"/>
                </a:solidFill>
                <a:latin typeface="Inter" pitchFamily="34" charset="0"/>
                <a:ea typeface="Inter" pitchFamily="34" charset="-122"/>
                <a:cs typeface="Inter" pitchFamily="34" charset="-120"/>
              </a:rPr>
              <a:t>THE PROBLEM</a:t>
            </a:r>
            <a:endParaRPr lang="en-US" sz="1100" dirty="0"/>
          </a:p>
        </p:txBody>
      </p:sp>
      <p:sp>
        <p:nvSpPr>
          <p:cNvPr id="8" name="Shape 6"/>
          <p:cNvSpPr/>
          <p:nvPr/>
        </p:nvSpPr>
        <p:spPr>
          <a:xfrm>
            <a:off x="822960" y="2441448"/>
            <a:ext cx="1325880" cy="1691640"/>
          </a:xfrm>
          <a:prstGeom prst="roundRect">
            <a:avLst>
              <a:gd name="adj" fmla="val 5517"/>
            </a:avLst>
          </a:prstGeom>
          <a:solidFill>
            <a:srgbClr val="182246"/>
          </a:solidFill>
          <a:ln w="9525">
            <a:solidFill>
              <a:srgbClr val="2A3563"/>
            </a:solidFill>
            <a:prstDash val="solid"/>
          </a:ln>
        </p:spPr>
      </p:sp>
      <p:pic>
        <p:nvPicPr>
          <p:cNvPr id="9" name="Image 0" descr="/home/claude/athar/img/cloud_m.png">    </p:cNvPr>
          <p:cNvPicPr>
            <a:picLocks noChangeAspect="1"/>
          </p:cNvPicPr>
          <p:nvPr/>
        </p:nvPicPr>
        <p:blipFill>
          <a:blip r:embed="rId2"/>
          <a:stretch>
            <a:fillRect/>
          </a:stretch>
        </p:blipFill>
        <p:spPr>
          <a:xfrm>
            <a:off x="950976" y="2587752"/>
            <a:ext cx="256032" cy="256032"/>
          </a:xfrm>
          <a:prstGeom prst="rect">
            <a:avLst/>
          </a:prstGeom>
        </p:spPr>
      </p:pic>
      <p:sp>
        <p:nvSpPr>
          <p:cNvPr id="10" name="Text 7"/>
          <p:cNvSpPr txBox="1"/>
          <p:nvPr/>
        </p:nvSpPr>
        <p:spPr>
          <a:xfrm>
            <a:off x="1261872" y="2569464"/>
            <a:ext cx="731520"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AWS</a:t>
            </a:r>
            <a:endParaRPr lang="en-US" sz="1400" dirty="0"/>
          </a:p>
        </p:txBody>
      </p:sp>
      <p:sp>
        <p:nvSpPr>
          <p:cNvPr id="11" name="Shape 8"/>
          <p:cNvSpPr/>
          <p:nvPr/>
        </p:nvSpPr>
        <p:spPr>
          <a:xfrm>
            <a:off x="950976" y="3044952"/>
            <a:ext cx="457200" cy="137160"/>
          </a:xfrm>
          <a:prstGeom prst="roundRect">
            <a:avLst>
              <a:gd name="adj" fmla="val 46667"/>
            </a:avLst>
          </a:prstGeom>
          <a:solidFill>
            <a:srgbClr val="8B7CFF">
              <a:alpha val="45000"/>
            </a:srgbClr>
          </a:solidFill>
          <a:ln w="12700">
            <a:solidFill>
              <a:srgbClr val="182246"/>
            </a:solidFill>
            <a:prstDash val="solid"/>
          </a:ln>
        </p:spPr>
      </p:sp>
      <p:sp>
        <p:nvSpPr>
          <p:cNvPr id="12" name="Shape 9"/>
          <p:cNvSpPr/>
          <p:nvPr/>
        </p:nvSpPr>
        <p:spPr>
          <a:xfrm>
            <a:off x="950976" y="3291840"/>
            <a:ext cx="640080" cy="137160"/>
          </a:xfrm>
          <a:prstGeom prst="roundRect">
            <a:avLst>
              <a:gd name="adj" fmla="val 46667"/>
            </a:avLst>
          </a:prstGeom>
          <a:solidFill>
            <a:srgbClr val="8B7CFF">
              <a:alpha val="60000"/>
            </a:srgbClr>
          </a:solidFill>
          <a:ln w="12700">
            <a:solidFill>
              <a:srgbClr val="182246"/>
            </a:solidFill>
            <a:prstDash val="solid"/>
          </a:ln>
        </p:spPr>
      </p:sp>
      <p:sp>
        <p:nvSpPr>
          <p:cNvPr id="13" name="Shape 10"/>
          <p:cNvSpPr/>
          <p:nvPr/>
        </p:nvSpPr>
        <p:spPr>
          <a:xfrm>
            <a:off x="950976" y="3538728"/>
            <a:ext cx="868680" cy="137160"/>
          </a:xfrm>
          <a:prstGeom prst="roundRect">
            <a:avLst>
              <a:gd name="adj" fmla="val 46667"/>
            </a:avLst>
          </a:prstGeom>
          <a:solidFill>
            <a:srgbClr val="8B7CFF">
              <a:alpha val="75000"/>
            </a:srgbClr>
          </a:solidFill>
          <a:ln w="12700">
            <a:solidFill>
              <a:srgbClr val="182246"/>
            </a:solidFill>
            <a:prstDash val="solid"/>
          </a:ln>
        </p:spPr>
      </p:sp>
      <p:sp>
        <p:nvSpPr>
          <p:cNvPr id="14" name="Shape 11"/>
          <p:cNvSpPr/>
          <p:nvPr/>
        </p:nvSpPr>
        <p:spPr>
          <a:xfrm>
            <a:off x="950976" y="3785616"/>
            <a:ext cx="960120" cy="137160"/>
          </a:xfrm>
          <a:prstGeom prst="roundRect">
            <a:avLst>
              <a:gd name="adj" fmla="val 46667"/>
            </a:avLst>
          </a:prstGeom>
          <a:solidFill>
            <a:srgbClr val="FF5D73"/>
          </a:solidFill>
          <a:ln w="12700">
            <a:solidFill>
              <a:srgbClr val="182246"/>
            </a:solidFill>
            <a:prstDash val="solid"/>
          </a:ln>
        </p:spPr>
      </p:sp>
      <p:sp>
        <p:nvSpPr>
          <p:cNvPr id="15" name="Shape 12"/>
          <p:cNvSpPr/>
          <p:nvPr/>
        </p:nvSpPr>
        <p:spPr>
          <a:xfrm>
            <a:off x="2286000" y="2532888"/>
            <a:ext cx="0" cy="1508760"/>
          </a:xfrm>
          <a:prstGeom prst="line">
            <a:avLst/>
          </a:prstGeom>
          <a:noFill/>
          <a:ln w="15875">
            <a:solidFill>
              <a:srgbClr val="7382A6"/>
            </a:solidFill>
            <a:prstDash val="dash"/>
          </a:ln>
        </p:spPr>
      </p:sp>
      <p:sp>
        <p:nvSpPr>
          <p:cNvPr id="16" name="Shape 13"/>
          <p:cNvSpPr/>
          <p:nvPr/>
        </p:nvSpPr>
        <p:spPr>
          <a:xfrm>
            <a:off x="2423160" y="2441448"/>
            <a:ext cx="1325880" cy="1691640"/>
          </a:xfrm>
          <a:prstGeom prst="roundRect">
            <a:avLst>
              <a:gd name="adj" fmla="val 5517"/>
            </a:avLst>
          </a:prstGeom>
          <a:solidFill>
            <a:srgbClr val="182246"/>
          </a:solidFill>
          <a:ln w="9525">
            <a:solidFill>
              <a:srgbClr val="2A3563"/>
            </a:solidFill>
            <a:prstDash val="solid"/>
          </a:ln>
        </p:spPr>
      </p:sp>
      <p:pic>
        <p:nvPicPr>
          <p:cNvPr id="17" name="Image 1" descr="/home/claude/athar/img/cloud_m.png">    </p:cNvPr>
          <p:cNvPicPr>
            <a:picLocks noChangeAspect="1"/>
          </p:cNvPicPr>
          <p:nvPr/>
        </p:nvPicPr>
        <p:blipFill>
          <a:blip r:embed="rId3"/>
          <a:stretch>
            <a:fillRect/>
          </a:stretch>
        </p:blipFill>
        <p:spPr>
          <a:xfrm>
            <a:off x="2551176" y="2587752"/>
            <a:ext cx="256032" cy="256032"/>
          </a:xfrm>
          <a:prstGeom prst="rect">
            <a:avLst/>
          </a:prstGeom>
        </p:spPr>
      </p:pic>
      <p:sp>
        <p:nvSpPr>
          <p:cNvPr id="18" name="Text 14"/>
          <p:cNvSpPr txBox="1"/>
          <p:nvPr/>
        </p:nvSpPr>
        <p:spPr>
          <a:xfrm>
            <a:off x="2862072" y="2569464"/>
            <a:ext cx="731520"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Azure</a:t>
            </a:r>
            <a:endParaRPr lang="en-US" sz="1400" dirty="0"/>
          </a:p>
        </p:txBody>
      </p:sp>
      <p:sp>
        <p:nvSpPr>
          <p:cNvPr id="19" name="Shape 15"/>
          <p:cNvSpPr/>
          <p:nvPr/>
        </p:nvSpPr>
        <p:spPr>
          <a:xfrm>
            <a:off x="2551176" y="3044952"/>
            <a:ext cx="411480" cy="137160"/>
          </a:xfrm>
          <a:prstGeom prst="roundRect">
            <a:avLst>
              <a:gd name="adj" fmla="val 46667"/>
            </a:avLst>
          </a:prstGeom>
          <a:solidFill>
            <a:srgbClr val="8B7CFF">
              <a:alpha val="45000"/>
            </a:srgbClr>
          </a:solidFill>
          <a:ln w="12700">
            <a:solidFill>
              <a:srgbClr val="182246"/>
            </a:solidFill>
            <a:prstDash val="solid"/>
          </a:ln>
        </p:spPr>
      </p:sp>
      <p:sp>
        <p:nvSpPr>
          <p:cNvPr id="20" name="Shape 16"/>
          <p:cNvSpPr/>
          <p:nvPr/>
        </p:nvSpPr>
        <p:spPr>
          <a:xfrm>
            <a:off x="2551176" y="3291840"/>
            <a:ext cx="548640" cy="137160"/>
          </a:xfrm>
          <a:prstGeom prst="roundRect">
            <a:avLst>
              <a:gd name="adj" fmla="val 46667"/>
            </a:avLst>
          </a:prstGeom>
          <a:solidFill>
            <a:srgbClr val="8B7CFF">
              <a:alpha val="60000"/>
            </a:srgbClr>
          </a:solidFill>
          <a:ln w="12700">
            <a:solidFill>
              <a:srgbClr val="182246"/>
            </a:solidFill>
            <a:prstDash val="solid"/>
          </a:ln>
        </p:spPr>
      </p:sp>
      <p:sp>
        <p:nvSpPr>
          <p:cNvPr id="21" name="Shape 17"/>
          <p:cNvSpPr/>
          <p:nvPr/>
        </p:nvSpPr>
        <p:spPr>
          <a:xfrm>
            <a:off x="2551176" y="3538728"/>
            <a:ext cx="731520" cy="137160"/>
          </a:xfrm>
          <a:prstGeom prst="roundRect">
            <a:avLst>
              <a:gd name="adj" fmla="val 46667"/>
            </a:avLst>
          </a:prstGeom>
          <a:solidFill>
            <a:srgbClr val="8B7CFF">
              <a:alpha val="75000"/>
            </a:srgbClr>
          </a:solidFill>
          <a:ln w="12700">
            <a:solidFill>
              <a:srgbClr val="182246"/>
            </a:solidFill>
            <a:prstDash val="solid"/>
          </a:ln>
        </p:spPr>
      </p:sp>
      <p:sp>
        <p:nvSpPr>
          <p:cNvPr id="22" name="Shape 18"/>
          <p:cNvSpPr/>
          <p:nvPr/>
        </p:nvSpPr>
        <p:spPr>
          <a:xfrm>
            <a:off x="2551176" y="3785616"/>
            <a:ext cx="960120" cy="137160"/>
          </a:xfrm>
          <a:prstGeom prst="roundRect">
            <a:avLst>
              <a:gd name="adj" fmla="val 46667"/>
            </a:avLst>
          </a:prstGeom>
          <a:solidFill>
            <a:srgbClr val="FF5D73"/>
          </a:solidFill>
          <a:ln w="12700">
            <a:solidFill>
              <a:srgbClr val="182246"/>
            </a:solidFill>
            <a:prstDash val="solid"/>
          </a:ln>
        </p:spPr>
      </p:sp>
      <p:sp>
        <p:nvSpPr>
          <p:cNvPr id="23" name="Shape 19"/>
          <p:cNvSpPr/>
          <p:nvPr/>
        </p:nvSpPr>
        <p:spPr>
          <a:xfrm>
            <a:off x="3886200" y="2532888"/>
            <a:ext cx="0" cy="1508760"/>
          </a:xfrm>
          <a:prstGeom prst="line">
            <a:avLst/>
          </a:prstGeom>
          <a:noFill/>
          <a:ln w="15875">
            <a:solidFill>
              <a:srgbClr val="7382A6"/>
            </a:solidFill>
            <a:prstDash val="dash"/>
          </a:ln>
        </p:spPr>
      </p:sp>
      <p:sp>
        <p:nvSpPr>
          <p:cNvPr id="24" name="Shape 20"/>
          <p:cNvSpPr/>
          <p:nvPr/>
        </p:nvSpPr>
        <p:spPr>
          <a:xfrm>
            <a:off x="4023360" y="2441448"/>
            <a:ext cx="1325880" cy="1691640"/>
          </a:xfrm>
          <a:prstGeom prst="roundRect">
            <a:avLst>
              <a:gd name="adj" fmla="val 5517"/>
            </a:avLst>
          </a:prstGeom>
          <a:solidFill>
            <a:srgbClr val="182246"/>
          </a:solidFill>
          <a:ln w="9525">
            <a:solidFill>
              <a:srgbClr val="2A3563"/>
            </a:solidFill>
            <a:prstDash val="solid"/>
          </a:ln>
        </p:spPr>
      </p:sp>
      <p:pic>
        <p:nvPicPr>
          <p:cNvPr id="25" name="Image 2" descr="/home/claude/athar/img/cloud_m.png">    </p:cNvPr>
          <p:cNvPicPr>
            <a:picLocks noChangeAspect="1"/>
          </p:cNvPicPr>
          <p:nvPr/>
        </p:nvPicPr>
        <p:blipFill>
          <a:blip r:embed="rId4"/>
          <a:stretch>
            <a:fillRect/>
          </a:stretch>
        </p:blipFill>
        <p:spPr>
          <a:xfrm>
            <a:off x="4151376" y="2587752"/>
            <a:ext cx="256032" cy="256032"/>
          </a:xfrm>
          <a:prstGeom prst="rect">
            <a:avLst/>
          </a:prstGeom>
        </p:spPr>
      </p:pic>
      <p:sp>
        <p:nvSpPr>
          <p:cNvPr id="26" name="Text 21"/>
          <p:cNvSpPr txBox="1"/>
          <p:nvPr/>
        </p:nvSpPr>
        <p:spPr>
          <a:xfrm>
            <a:off x="4462272" y="2569464"/>
            <a:ext cx="731520"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GCP</a:t>
            </a:r>
            <a:endParaRPr lang="en-US" sz="1400" dirty="0"/>
          </a:p>
        </p:txBody>
      </p:sp>
      <p:sp>
        <p:nvSpPr>
          <p:cNvPr id="27" name="Shape 22"/>
          <p:cNvSpPr/>
          <p:nvPr/>
        </p:nvSpPr>
        <p:spPr>
          <a:xfrm>
            <a:off x="4151376" y="3044952"/>
            <a:ext cx="502920" cy="137160"/>
          </a:xfrm>
          <a:prstGeom prst="roundRect">
            <a:avLst>
              <a:gd name="adj" fmla="val 46667"/>
            </a:avLst>
          </a:prstGeom>
          <a:solidFill>
            <a:srgbClr val="8B7CFF">
              <a:alpha val="45000"/>
            </a:srgbClr>
          </a:solidFill>
          <a:ln w="12700">
            <a:solidFill>
              <a:srgbClr val="182246"/>
            </a:solidFill>
            <a:prstDash val="solid"/>
          </a:ln>
        </p:spPr>
      </p:sp>
      <p:sp>
        <p:nvSpPr>
          <p:cNvPr id="28" name="Shape 23"/>
          <p:cNvSpPr/>
          <p:nvPr/>
        </p:nvSpPr>
        <p:spPr>
          <a:xfrm>
            <a:off x="4151376" y="3291840"/>
            <a:ext cx="685800" cy="137160"/>
          </a:xfrm>
          <a:prstGeom prst="roundRect">
            <a:avLst>
              <a:gd name="adj" fmla="val 46667"/>
            </a:avLst>
          </a:prstGeom>
          <a:solidFill>
            <a:srgbClr val="8B7CFF">
              <a:alpha val="60000"/>
            </a:srgbClr>
          </a:solidFill>
          <a:ln w="12700">
            <a:solidFill>
              <a:srgbClr val="182246"/>
            </a:solidFill>
            <a:prstDash val="solid"/>
          </a:ln>
        </p:spPr>
      </p:sp>
      <p:sp>
        <p:nvSpPr>
          <p:cNvPr id="29" name="Shape 24"/>
          <p:cNvSpPr/>
          <p:nvPr/>
        </p:nvSpPr>
        <p:spPr>
          <a:xfrm>
            <a:off x="4151376" y="3538728"/>
            <a:ext cx="822960" cy="137160"/>
          </a:xfrm>
          <a:prstGeom prst="roundRect">
            <a:avLst>
              <a:gd name="adj" fmla="val 46667"/>
            </a:avLst>
          </a:prstGeom>
          <a:solidFill>
            <a:srgbClr val="8B7CFF">
              <a:alpha val="75000"/>
            </a:srgbClr>
          </a:solidFill>
          <a:ln w="12700">
            <a:solidFill>
              <a:srgbClr val="182246"/>
            </a:solidFill>
            <a:prstDash val="solid"/>
          </a:ln>
        </p:spPr>
      </p:sp>
      <p:sp>
        <p:nvSpPr>
          <p:cNvPr id="30" name="Shape 25"/>
          <p:cNvSpPr/>
          <p:nvPr/>
        </p:nvSpPr>
        <p:spPr>
          <a:xfrm>
            <a:off x="4151376" y="3785616"/>
            <a:ext cx="960120" cy="137160"/>
          </a:xfrm>
          <a:prstGeom prst="roundRect">
            <a:avLst>
              <a:gd name="adj" fmla="val 46667"/>
            </a:avLst>
          </a:prstGeom>
          <a:solidFill>
            <a:srgbClr val="FF5D73"/>
          </a:solidFill>
          <a:ln w="12700">
            <a:solidFill>
              <a:srgbClr val="182246"/>
            </a:solidFill>
            <a:prstDash val="solid"/>
          </a:ln>
        </p:spPr>
      </p:sp>
      <p:sp>
        <p:nvSpPr>
          <p:cNvPr id="31" name="Text 26"/>
          <p:cNvSpPr txBox="1"/>
          <p:nvPr/>
        </p:nvSpPr>
        <p:spPr>
          <a:xfrm>
            <a:off x="822960" y="4242816"/>
            <a:ext cx="4709160" cy="256032"/>
          </a:xfrm>
          <a:prstGeom prst="rect">
            <a:avLst/>
          </a:prstGeom>
          <a:noFill/>
          <a:ln/>
        </p:spPr>
        <p:txBody>
          <a:bodyPr wrap="square" lIns="0" tIns="0" rIns="0" bIns="0" rtlCol="0" anchor="t"/>
          <a:lstStyle/>
          <a:p>
            <a:pPr indent="0" marL="0">
              <a:buNone/>
            </a:pPr>
            <a:r>
              <a:rPr lang="en-US" sz="1200" i="1" dirty="0">
                <a:solidFill>
                  <a:srgbClr val="A3B0CF"/>
                </a:solidFill>
                <a:latin typeface="Inter" pitchFamily="34" charset="0"/>
                <a:ea typeface="Inter" pitchFamily="34" charset="-122"/>
                <a:cs typeface="Inter" pitchFamily="34" charset="-120"/>
              </a:rPr>
              <a:t>No shared view — and access keeps piling up</a:t>
            </a:r>
            <a:endParaRPr lang="en-US" sz="1200" dirty="0"/>
          </a:p>
        </p:txBody>
      </p:sp>
      <p:sp>
        <p:nvSpPr>
          <p:cNvPr id="32" name="Shape 27"/>
          <p:cNvSpPr/>
          <p:nvPr/>
        </p:nvSpPr>
        <p:spPr>
          <a:xfrm>
            <a:off x="822960" y="4663440"/>
            <a:ext cx="987552" cy="329184"/>
          </a:xfrm>
          <a:prstGeom prst="roundRect">
            <a:avLst>
              <a:gd name="adj" fmla="val 50000"/>
            </a:avLst>
          </a:prstGeom>
          <a:solidFill>
            <a:srgbClr val="1E1D4A"/>
          </a:solidFill>
          <a:ln w="9525">
            <a:solidFill>
              <a:srgbClr val="8B7CFF"/>
            </a:solidFill>
            <a:prstDash val="solid"/>
          </a:ln>
        </p:spPr>
      </p:sp>
      <p:sp>
        <p:nvSpPr>
          <p:cNvPr id="33" name="Text 28"/>
          <p:cNvSpPr txBox="1"/>
          <p:nvPr/>
        </p:nvSpPr>
        <p:spPr>
          <a:xfrm>
            <a:off x="822960" y="4663440"/>
            <a:ext cx="98755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Role creep</a:t>
            </a:r>
            <a:endParaRPr lang="en-US" sz="1100" dirty="0"/>
          </a:p>
        </p:txBody>
      </p:sp>
      <p:sp>
        <p:nvSpPr>
          <p:cNvPr id="34" name="Shape 29"/>
          <p:cNvSpPr/>
          <p:nvPr/>
        </p:nvSpPr>
        <p:spPr>
          <a:xfrm>
            <a:off x="1897380" y="4663440"/>
            <a:ext cx="1773936" cy="329184"/>
          </a:xfrm>
          <a:prstGeom prst="roundRect">
            <a:avLst>
              <a:gd name="adj" fmla="val 50000"/>
            </a:avLst>
          </a:prstGeom>
          <a:solidFill>
            <a:srgbClr val="1E1D4A"/>
          </a:solidFill>
          <a:ln w="9525">
            <a:solidFill>
              <a:srgbClr val="8B7CFF"/>
            </a:solidFill>
            <a:prstDash val="solid"/>
          </a:ln>
        </p:spPr>
      </p:sp>
      <p:sp>
        <p:nvSpPr>
          <p:cNvPr id="35" name="Text 30"/>
          <p:cNvSpPr txBox="1"/>
          <p:nvPr/>
        </p:nvSpPr>
        <p:spPr>
          <a:xfrm>
            <a:off x="1897380" y="4663440"/>
            <a:ext cx="17739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Incomplete offboarding</a:t>
            </a:r>
            <a:endParaRPr lang="en-US" sz="1100" dirty="0"/>
          </a:p>
        </p:txBody>
      </p:sp>
      <p:sp>
        <p:nvSpPr>
          <p:cNvPr id="36" name="Shape 31"/>
          <p:cNvSpPr/>
          <p:nvPr/>
        </p:nvSpPr>
        <p:spPr>
          <a:xfrm>
            <a:off x="3758184" y="4663440"/>
            <a:ext cx="1773936" cy="329184"/>
          </a:xfrm>
          <a:prstGeom prst="roundRect">
            <a:avLst>
              <a:gd name="adj" fmla="val 50000"/>
            </a:avLst>
          </a:prstGeom>
          <a:solidFill>
            <a:srgbClr val="1E1D4A"/>
          </a:solidFill>
          <a:ln w="9525">
            <a:solidFill>
              <a:srgbClr val="8B7CFF"/>
            </a:solidFill>
            <a:prstDash val="solid"/>
          </a:ln>
        </p:spPr>
      </p:sp>
      <p:sp>
        <p:nvSpPr>
          <p:cNvPr id="37" name="Text 32"/>
          <p:cNvSpPr txBox="1"/>
          <p:nvPr/>
        </p:nvSpPr>
        <p:spPr>
          <a:xfrm>
            <a:off x="3758184" y="4663440"/>
            <a:ext cx="17739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Cross-cloud superusers</a:t>
            </a:r>
            <a:endParaRPr lang="en-US" sz="1100" dirty="0"/>
          </a:p>
        </p:txBody>
      </p:sp>
      <p:pic>
        <p:nvPicPr>
          <p:cNvPr id="38" name="Image 3" descr="/home/claude/athar/img/alert_r.png">    </p:cNvPr>
          <p:cNvPicPr>
            <a:picLocks noChangeAspect="1"/>
          </p:cNvPicPr>
          <p:nvPr/>
        </p:nvPicPr>
        <p:blipFill>
          <a:blip r:embed="rId5"/>
          <a:stretch>
            <a:fillRect/>
          </a:stretch>
        </p:blipFill>
        <p:spPr>
          <a:xfrm>
            <a:off x="822960" y="5138928"/>
            <a:ext cx="237744" cy="237744"/>
          </a:xfrm>
          <a:prstGeom prst="rect">
            <a:avLst/>
          </a:prstGeom>
        </p:spPr>
      </p:pic>
      <p:sp>
        <p:nvSpPr>
          <p:cNvPr id="39" name="Text 33"/>
          <p:cNvSpPr txBox="1"/>
          <p:nvPr/>
        </p:nvSpPr>
        <p:spPr>
          <a:xfrm>
            <a:off x="1152144" y="5120640"/>
            <a:ext cx="4389120" cy="274320"/>
          </a:xfrm>
          <a:prstGeom prst="rect">
            <a:avLst/>
          </a:prstGeom>
          <a:noFill/>
          <a:ln/>
        </p:spPr>
        <p:txBody>
          <a:bodyPr wrap="square" lIns="0" tIns="0" rIns="0" bIns="0" rtlCol="0" anchor="ctr"/>
          <a:lstStyle/>
          <a:p>
            <a:pPr indent="0" marL="0">
              <a:buNone/>
            </a:pPr>
            <a:r>
              <a:rPr lang="en-US" sz="1250" b="1" dirty="0">
                <a:solidFill>
                  <a:srgbClr val="FFB3BE"/>
                </a:solidFill>
                <a:latin typeface="Inter" pitchFamily="34" charset="0"/>
                <a:ea typeface="Inter" pitchFamily="34" charset="-122"/>
                <a:cs typeface="Inter" pitchFamily="34" charset="-120"/>
              </a:rPr>
              <a:t>Findings can be edited later — and nobody can tell</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080760" y="1874520"/>
          <a:ext cx="5559552" cy="914400"/>
        </p:xfrm>
        <a:graphic>
          <a:graphicData uri="http://schemas.openxmlformats.org/drawingml/2006/table">
            <a:tbl>
              <a:tblPr/>
              <a:tblGrid>
                <a:gridCol w="2194560"/>
                <a:gridCol w="3364992"/>
              </a:tblGrid>
              <a:tr h="420624">
                <a:tc>
                  <a:txBody>
                    <a:bodyPr/>
                    <a:lstStyle/>
                    <a:p>
                      <a:pPr indent="0" marL="0">
                        <a:buNone/>
                      </a:pPr>
                      <a:r>
                        <a:rPr lang="en-US" sz="1200" b="1" spc="200" kern="0" dirty="0">
                          <a:solidFill>
                            <a:srgbClr val="A3B0CF"/>
                          </a:solidFill>
                          <a:latin typeface="Inter" pitchFamily="34" charset="0"/>
                          <a:ea typeface="Inter" pitchFamily="34" charset="-122"/>
                          <a:cs typeface="Inter" pitchFamily="34" charset="-120"/>
                        </a:rPr>
                        <a:t>GAP TODAY</a:t>
                      </a:r>
                      <a:endParaRPr lang="en-US" sz="12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c>
                  <a:txBody>
                    <a:bodyPr/>
                    <a:lstStyle/>
                    <a:p>
                      <a:pPr indent="0" marL="0">
                        <a:buNone/>
                      </a:pPr>
                      <a:r>
                        <a:rPr lang="en-US" sz="1200" b="1" spc="200" kern="0" dirty="0">
                          <a:solidFill>
                            <a:srgbClr val="55E6FF"/>
                          </a:solidFill>
                          <a:latin typeface="Inter" pitchFamily="34" charset="0"/>
                          <a:ea typeface="Inter" pitchFamily="34" charset="-122"/>
                          <a:cs typeface="Inter" pitchFamily="34" charset="-120"/>
                        </a:rPr>
                        <a:t>OUR MEASURABLE OBJECTIVE</a:t>
                      </a:r>
                      <a:endParaRPr lang="en-US" sz="12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r>
              <a:tr h="1060704">
                <a:tc>
                  <a:txBody>
                    <a:bodyPr/>
                    <a:lstStyle/>
                    <a:p>
                      <a:pPr indent="0" marL="0">
                        <a:buNone/>
                      </a:pPr>
                      <a:r>
                        <a:rPr lang="en-US" sz="1400" dirty="0">
                          <a:solidFill>
                            <a:srgbClr val="A3B0CF"/>
                          </a:solidFill>
                          <a:latin typeface="Inter" pitchFamily="34" charset="0"/>
                          <a:ea typeface="Inter" pitchFamily="34" charset="-122"/>
                          <a:cs typeface="Inter" pitchFamily="34" charset="-120"/>
                        </a:rPr>
                        <a:t>Siloed per-cloud consoles; no cross-cloud view</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400" b="1" dirty="0">
                          <a:solidFill>
                            <a:srgbClr val="55E6FF"/>
                          </a:solidFill>
                          <a:latin typeface="Inter" pitchFamily="34" charset="0"/>
                          <a:ea typeface="Inter" pitchFamily="34" charset="-122"/>
                          <a:cs typeface="Inter" pitchFamily="34" charset="-120"/>
                        </a:rPr>
                        <a:t>01  </a:t>
                      </a:r>
                      <a:pPr indent="0" marL="0">
                        <a:buNone/>
                      </a:pPr>
                      <a:r>
                        <a:rPr lang="en-US" sz="1400" b="1" dirty="0">
                          <a:solidFill>
                            <a:srgbClr val="FFFFFF"/>
                          </a:solidFill>
                          <a:latin typeface="Inter" pitchFamily="34" charset="0"/>
                          <a:ea typeface="Inter" pitchFamily="34" charset="-122"/>
                          <a:cs typeface="Inter" pitchFamily="34" charset="-120"/>
                        </a:rPr>
                        <a:t>Unify AWS, Azure &amp; GCP IAM plus HR into one canonical permission model</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1060704">
                <a:tc>
                  <a:txBody>
                    <a:bodyPr/>
                    <a:lstStyle/>
                    <a:p>
                      <a:pPr indent="0" marL="0">
                        <a:buNone/>
                      </a:pPr>
                      <a:r>
                        <a:rPr lang="en-US" sz="1400" dirty="0">
                          <a:solidFill>
                            <a:srgbClr val="A3B0CF"/>
                          </a:solidFill>
                          <a:latin typeface="Inter" pitchFamily="34" charset="0"/>
                          <a:ea typeface="Inter" pitchFamily="34" charset="-122"/>
                          <a:cs typeface="Inter" pitchFamily="34" charset="-120"/>
                        </a:rPr>
                        <a:t>Access accumulates silently; no one can answer “who, what, since when”</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400" b="1" dirty="0">
                          <a:solidFill>
                            <a:srgbClr val="55E6FF"/>
                          </a:solidFill>
                          <a:latin typeface="Inter" pitchFamily="34" charset="0"/>
                          <a:ea typeface="Inter" pitchFamily="34" charset="-122"/>
                          <a:cs typeface="Inter" pitchFamily="34" charset="-120"/>
                        </a:rPr>
                        <a:t>02  </a:t>
                      </a:r>
                      <a:pPr indent="0" marL="0">
                        <a:buNone/>
                      </a:pPr>
                      <a:r>
                        <a:rPr lang="en-US" sz="1400" b="1" dirty="0">
                          <a:solidFill>
                            <a:srgbClr val="FFFFFF"/>
                          </a:solidFill>
                          <a:latin typeface="Inter" pitchFamily="34" charset="0"/>
                          <a:ea typeface="Inter" pitchFamily="34" charset="-122"/>
                          <a:cs typeface="Inter" pitchFamily="34" charset="-120"/>
                        </a:rPr>
                        <a:t>Surface risk ranked by measured blast radius, with causal history</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1060704">
                <a:tc>
                  <a:txBody>
                    <a:bodyPr/>
                    <a:lstStyle/>
                    <a:p>
                      <a:pPr indent="0" marL="0">
                        <a:buNone/>
                      </a:pPr>
                      <a:r>
                        <a:rPr lang="en-US" sz="1400" dirty="0">
                          <a:solidFill>
                            <a:srgbClr val="A3B0CF"/>
                          </a:solidFill>
                          <a:latin typeface="Inter" pitchFamily="34" charset="0"/>
                          <a:ea typeface="Inter" pitchFamily="34" charset="-122"/>
                          <a:cs typeface="Inter" pitchFamily="34" charset="-120"/>
                        </a:rPr>
                        <a:t>No tamper-evidence: findings can be changed after the fact</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400" b="1" dirty="0">
                          <a:solidFill>
                            <a:srgbClr val="55E6FF"/>
                          </a:solidFill>
                          <a:latin typeface="Inter" pitchFamily="34" charset="0"/>
                          <a:ea typeface="Inter" pitchFamily="34" charset="-122"/>
                          <a:cs typeface="Inter" pitchFamily="34" charset="-120"/>
                        </a:rPr>
                        <a:t>03  </a:t>
                      </a:r>
                      <a:pPr indent="0" marL="0">
                        <a:buNone/>
                      </a:pPr>
                      <a:r>
                        <a:rPr lang="en-US" sz="1400" b="1" dirty="0">
                          <a:solidFill>
                            <a:srgbClr val="FFFFFF"/>
                          </a:solidFill>
                          <a:latin typeface="Inter" pitchFamily="34" charset="0"/>
                          <a:ea typeface="Inter" pitchFamily="34" charset="-122"/>
                          <a:cs typeface="Inter" pitchFamily="34" charset="-120"/>
                        </a:rPr>
                        <a:t>Make every finding independently verifiable against an on-chain root</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bl>
          </a:graphicData>
        </a:graphic>
      </p:graphicFrame>
      <p:sp>
        <p:nvSpPr>
          <p:cNvPr id="41" name="Text 34"/>
          <p:cNvSpPr txBox="1"/>
          <p:nvPr/>
        </p:nvSpPr>
        <p:spPr>
          <a:xfrm>
            <a:off x="548640" y="5779008"/>
            <a:ext cx="1920240" cy="365760"/>
          </a:xfrm>
          <a:prstGeom prst="rect">
            <a:avLst/>
          </a:prstGeom>
          <a:noFill/>
          <a:ln/>
        </p:spPr>
        <p:txBody>
          <a:bodyPr wrap="square" lIns="0" tIns="0" rIns="0" bIns="0" rtlCol="0" anchor="ctr"/>
          <a:lstStyle/>
          <a:p>
            <a:pPr indent="0" marL="0">
              <a:buNone/>
            </a:pPr>
            <a:r>
              <a:rPr lang="en-US" sz="1100" b="1" spc="300" kern="0" dirty="0">
                <a:solidFill>
                  <a:srgbClr val="8B7CFF"/>
                </a:solidFill>
                <a:latin typeface="Inter" pitchFamily="34" charset="0"/>
                <a:ea typeface="Inter" pitchFamily="34" charset="-122"/>
                <a:cs typeface="Inter" pitchFamily="34" charset="-120"/>
              </a:rPr>
              <a:t>WHO’S AFFECTED</a:t>
            </a:r>
            <a:endParaRPr lang="en-US" sz="1100" dirty="0"/>
          </a:p>
        </p:txBody>
      </p:sp>
      <p:pic>
        <p:nvPicPr>
          <p:cNvPr id="42" name="Image 4" descr="/home/claude/athar/img/users_v.png">    </p:cNvPr>
          <p:cNvPicPr>
            <a:picLocks noChangeAspect="1"/>
          </p:cNvPicPr>
          <p:nvPr/>
        </p:nvPicPr>
        <p:blipFill>
          <a:blip r:embed="rId6"/>
          <a:stretch>
            <a:fillRect/>
          </a:stretch>
        </p:blipFill>
        <p:spPr>
          <a:xfrm>
            <a:off x="2450592" y="5833872"/>
            <a:ext cx="256032" cy="256032"/>
          </a:xfrm>
          <a:prstGeom prst="rect">
            <a:avLst/>
          </a:prstGeom>
        </p:spPr>
      </p:pic>
      <p:sp>
        <p:nvSpPr>
          <p:cNvPr id="43" name="Shape 35"/>
          <p:cNvSpPr/>
          <p:nvPr/>
        </p:nvSpPr>
        <p:spPr>
          <a:xfrm>
            <a:off x="2852928" y="5779008"/>
            <a:ext cx="3291840" cy="365760"/>
          </a:xfrm>
          <a:prstGeom prst="roundRect">
            <a:avLst>
              <a:gd name="adj" fmla="val 50000"/>
            </a:avLst>
          </a:prstGeom>
          <a:solidFill>
            <a:srgbClr val="182246"/>
          </a:solidFill>
          <a:ln w="9525">
            <a:solidFill>
              <a:srgbClr val="2A3563"/>
            </a:solidFill>
            <a:prstDash val="solid"/>
          </a:ln>
        </p:spPr>
      </p:sp>
      <p:sp>
        <p:nvSpPr>
          <p:cNvPr id="44" name="Text 36"/>
          <p:cNvSpPr txBox="1"/>
          <p:nvPr/>
        </p:nvSpPr>
        <p:spPr>
          <a:xfrm>
            <a:off x="2852928" y="5779008"/>
            <a:ext cx="329184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Cloud security &amp; IT governance teams</a:t>
            </a:r>
            <a:endParaRPr lang="en-US" sz="1300" dirty="0"/>
          </a:p>
        </p:txBody>
      </p:sp>
      <p:sp>
        <p:nvSpPr>
          <p:cNvPr id="45" name="Shape 37"/>
          <p:cNvSpPr/>
          <p:nvPr/>
        </p:nvSpPr>
        <p:spPr>
          <a:xfrm>
            <a:off x="6309360" y="5779008"/>
            <a:ext cx="1965960" cy="365760"/>
          </a:xfrm>
          <a:prstGeom prst="roundRect">
            <a:avLst>
              <a:gd name="adj" fmla="val 50000"/>
            </a:avLst>
          </a:prstGeom>
          <a:solidFill>
            <a:srgbClr val="182246"/>
          </a:solidFill>
          <a:ln w="9525">
            <a:solidFill>
              <a:srgbClr val="2A3563"/>
            </a:solidFill>
            <a:prstDash val="solid"/>
          </a:ln>
        </p:spPr>
      </p:sp>
      <p:sp>
        <p:nvSpPr>
          <p:cNvPr id="46" name="Text 38"/>
          <p:cNvSpPr txBox="1"/>
          <p:nvPr/>
        </p:nvSpPr>
        <p:spPr>
          <a:xfrm>
            <a:off x="6309360" y="5779008"/>
            <a:ext cx="196596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Compliance officers</a:t>
            </a:r>
            <a:endParaRPr lang="en-US" sz="1300" dirty="0"/>
          </a:p>
        </p:txBody>
      </p:sp>
      <p:sp>
        <p:nvSpPr>
          <p:cNvPr id="47" name="Shape 39"/>
          <p:cNvSpPr/>
          <p:nvPr/>
        </p:nvSpPr>
        <p:spPr>
          <a:xfrm>
            <a:off x="8439912" y="5779008"/>
            <a:ext cx="1143000" cy="365760"/>
          </a:xfrm>
          <a:prstGeom prst="roundRect">
            <a:avLst>
              <a:gd name="adj" fmla="val 50000"/>
            </a:avLst>
          </a:prstGeom>
          <a:solidFill>
            <a:srgbClr val="182246"/>
          </a:solidFill>
          <a:ln w="9525">
            <a:solidFill>
              <a:srgbClr val="2A3563"/>
            </a:solidFill>
            <a:prstDash val="solid"/>
          </a:ln>
        </p:spPr>
      </p:sp>
      <p:sp>
        <p:nvSpPr>
          <p:cNvPr id="48" name="Text 40"/>
          <p:cNvSpPr txBox="1"/>
          <p:nvPr/>
        </p:nvSpPr>
        <p:spPr>
          <a:xfrm>
            <a:off x="8439912" y="5779008"/>
            <a:ext cx="11430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Auditors</a:t>
            </a:r>
            <a:endParaRPr lang="en-US" sz="1300" dirty="0"/>
          </a:p>
        </p:txBody>
      </p:sp>
      <p:sp>
        <p:nvSpPr>
          <p:cNvPr id="49" name="Shape 41"/>
          <p:cNvSpPr/>
          <p:nvPr/>
        </p:nvSpPr>
        <p:spPr>
          <a:xfrm>
            <a:off x="9747504" y="5779008"/>
            <a:ext cx="960120" cy="365760"/>
          </a:xfrm>
          <a:prstGeom prst="roundRect">
            <a:avLst>
              <a:gd name="adj" fmla="val 50000"/>
            </a:avLst>
          </a:prstGeom>
          <a:solidFill>
            <a:srgbClr val="182246"/>
          </a:solidFill>
          <a:ln w="9525">
            <a:solidFill>
              <a:srgbClr val="2A3563"/>
            </a:solidFill>
            <a:prstDash val="solid"/>
          </a:ln>
        </p:spPr>
      </p:sp>
      <p:sp>
        <p:nvSpPr>
          <p:cNvPr id="50" name="Text 42"/>
          <p:cNvSpPr txBox="1"/>
          <p:nvPr/>
        </p:nvSpPr>
        <p:spPr>
          <a:xfrm>
            <a:off x="9747504" y="5779008"/>
            <a:ext cx="96012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CISOs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03  ·  PROPOSED SOLUTION</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03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Three clouds in. One verifiable answer out.</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End-to-end pipeline — deterministic core, optional LLM, every result anchored.</a:t>
            </a:r>
            <a:endParaRPr lang="en-US" sz="1500" dirty="0"/>
          </a:p>
        </p:txBody>
      </p:sp>
      <p:sp>
        <p:nvSpPr>
          <p:cNvPr id="6" name="Text 4"/>
          <p:cNvSpPr txBox="1"/>
          <p:nvPr/>
        </p:nvSpPr>
        <p:spPr>
          <a:xfrm>
            <a:off x="548640" y="1682496"/>
            <a:ext cx="169164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1 · INGEST</a:t>
            </a:r>
            <a:endParaRPr lang="en-US" sz="1050" dirty="0"/>
          </a:p>
        </p:txBody>
      </p:sp>
      <p:sp>
        <p:nvSpPr>
          <p:cNvPr id="7" name="Text 5"/>
          <p:cNvSpPr txBox="1"/>
          <p:nvPr/>
        </p:nvSpPr>
        <p:spPr>
          <a:xfrm>
            <a:off x="2331720" y="1682496"/>
            <a:ext cx="182880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2 · NORMALISE</a:t>
            </a:r>
            <a:endParaRPr lang="en-US" sz="1050" dirty="0"/>
          </a:p>
        </p:txBody>
      </p:sp>
      <p:sp>
        <p:nvSpPr>
          <p:cNvPr id="8" name="Text 6"/>
          <p:cNvSpPr txBox="1"/>
          <p:nvPr/>
        </p:nvSpPr>
        <p:spPr>
          <a:xfrm>
            <a:off x="4251960" y="1682496"/>
            <a:ext cx="301752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3 · DETECT &amp; SCORE</a:t>
            </a:r>
            <a:endParaRPr lang="en-US" sz="1050" dirty="0"/>
          </a:p>
        </p:txBody>
      </p:sp>
      <p:sp>
        <p:nvSpPr>
          <p:cNvPr id="9" name="Text 7"/>
          <p:cNvSpPr txBox="1"/>
          <p:nvPr/>
        </p:nvSpPr>
        <p:spPr>
          <a:xfrm>
            <a:off x="7360920" y="1682496"/>
            <a:ext cx="2862072"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4 · PROVE · EXPLAIN · ACT</a:t>
            </a:r>
            <a:endParaRPr lang="en-US" sz="1050" dirty="0"/>
          </a:p>
        </p:txBody>
      </p:sp>
      <p:sp>
        <p:nvSpPr>
          <p:cNvPr id="10" name="Text 8"/>
          <p:cNvSpPr txBox="1"/>
          <p:nvPr/>
        </p:nvSpPr>
        <p:spPr>
          <a:xfrm>
            <a:off x="10268712" y="1682496"/>
            <a:ext cx="164592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5 · DELIVER</a:t>
            </a:r>
            <a:endParaRPr lang="en-US" sz="1050" dirty="0"/>
          </a:p>
        </p:txBody>
      </p:sp>
      <p:sp>
        <p:nvSpPr>
          <p:cNvPr id="11" name="Shape 9"/>
          <p:cNvSpPr/>
          <p:nvPr/>
        </p:nvSpPr>
        <p:spPr>
          <a:xfrm>
            <a:off x="548640" y="2011680"/>
            <a:ext cx="1417320" cy="548640"/>
          </a:xfrm>
          <a:prstGeom prst="roundRect">
            <a:avLst>
              <a:gd name="adj" fmla="val 16667"/>
            </a:avLst>
          </a:prstGeom>
          <a:solidFill>
            <a:srgbClr val="182246"/>
          </a:solidFill>
          <a:ln w="9525">
            <a:solidFill>
              <a:srgbClr val="2A3563"/>
            </a:solidFill>
            <a:prstDash val="solid"/>
          </a:ln>
        </p:spPr>
      </p:sp>
      <p:pic>
        <p:nvPicPr>
          <p:cNvPr id="12" name="Image 0" descr="/home/claude/athar/img/json_c.png">    </p:cNvPr>
          <p:cNvPicPr>
            <a:picLocks noChangeAspect="1"/>
          </p:cNvPicPr>
          <p:nvPr/>
        </p:nvPicPr>
        <p:blipFill>
          <a:blip r:embed="rId2"/>
          <a:stretch>
            <a:fillRect/>
          </a:stretch>
        </p:blipFill>
        <p:spPr>
          <a:xfrm>
            <a:off x="658368" y="2167128"/>
            <a:ext cx="237744" cy="237744"/>
          </a:xfrm>
          <a:prstGeom prst="rect">
            <a:avLst/>
          </a:prstGeom>
        </p:spPr>
      </p:pic>
      <p:sp>
        <p:nvSpPr>
          <p:cNvPr id="13" name="Text 10"/>
          <p:cNvSpPr txBox="1"/>
          <p:nvPr/>
        </p:nvSpPr>
        <p:spPr>
          <a:xfrm>
            <a:off x="969264" y="201168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AWS IAM export</a:t>
            </a:r>
            <a:endParaRPr lang="en-US" sz="1150" dirty="0"/>
          </a:p>
        </p:txBody>
      </p:sp>
      <p:sp>
        <p:nvSpPr>
          <p:cNvPr id="14" name="Shape 11"/>
          <p:cNvSpPr/>
          <p:nvPr/>
        </p:nvSpPr>
        <p:spPr>
          <a:xfrm>
            <a:off x="1965960" y="2286000"/>
            <a:ext cx="164592" cy="0"/>
          </a:xfrm>
          <a:prstGeom prst="line">
            <a:avLst/>
          </a:prstGeom>
          <a:noFill/>
          <a:ln w="15875">
            <a:solidFill>
              <a:srgbClr val="7382A6"/>
            </a:solidFill>
            <a:prstDash val="solid"/>
          </a:ln>
        </p:spPr>
      </p:sp>
      <p:sp>
        <p:nvSpPr>
          <p:cNvPr id="15" name="Shape 12"/>
          <p:cNvSpPr/>
          <p:nvPr/>
        </p:nvSpPr>
        <p:spPr>
          <a:xfrm>
            <a:off x="548640" y="2712720"/>
            <a:ext cx="1417320" cy="548640"/>
          </a:xfrm>
          <a:prstGeom prst="roundRect">
            <a:avLst>
              <a:gd name="adj" fmla="val 16667"/>
            </a:avLst>
          </a:prstGeom>
          <a:solidFill>
            <a:srgbClr val="182246"/>
          </a:solidFill>
          <a:ln w="9525">
            <a:solidFill>
              <a:srgbClr val="2A3563"/>
            </a:solidFill>
            <a:prstDash val="solid"/>
          </a:ln>
        </p:spPr>
      </p:sp>
      <p:pic>
        <p:nvPicPr>
          <p:cNvPr id="16" name="Image 1" descr="/home/claude/athar/img/json_c.png">    </p:cNvPr>
          <p:cNvPicPr>
            <a:picLocks noChangeAspect="1"/>
          </p:cNvPicPr>
          <p:nvPr/>
        </p:nvPicPr>
        <p:blipFill>
          <a:blip r:embed="rId3"/>
          <a:stretch>
            <a:fillRect/>
          </a:stretch>
        </p:blipFill>
        <p:spPr>
          <a:xfrm>
            <a:off x="658368" y="2868168"/>
            <a:ext cx="237744" cy="237744"/>
          </a:xfrm>
          <a:prstGeom prst="rect">
            <a:avLst/>
          </a:prstGeom>
        </p:spPr>
      </p:pic>
      <p:sp>
        <p:nvSpPr>
          <p:cNvPr id="17" name="Text 13"/>
          <p:cNvSpPr txBox="1"/>
          <p:nvPr/>
        </p:nvSpPr>
        <p:spPr>
          <a:xfrm>
            <a:off x="969264" y="271272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Azure IAM export</a:t>
            </a:r>
            <a:endParaRPr lang="en-US" sz="1150" dirty="0"/>
          </a:p>
        </p:txBody>
      </p:sp>
      <p:sp>
        <p:nvSpPr>
          <p:cNvPr id="18" name="Shape 14"/>
          <p:cNvSpPr/>
          <p:nvPr/>
        </p:nvSpPr>
        <p:spPr>
          <a:xfrm>
            <a:off x="1965960" y="2987040"/>
            <a:ext cx="164592" cy="0"/>
          </a:xfrm>
          <a:prstGeom prst="line">
            <a:avLst/>
          </a:prstGeom>
          <a:noFill/>
          <a:ln w="15875">
            <a:solidFill>
              <a:srgbClr val="7382A6"/>
            </a:solidFill>
            <a:prstDash val="solid"/>
          </a:ln>
        </p:spPr>
      </p:sp>
      <p:sp>
        <p:nvSpPr>
          <p:cNvPr id="19" name="Shape 15"/>
          <p:cNvSpPr/>
          <p:nvPr/>
        </p:nvSpPr>
        <p:spPr>
          <a:xfrm>
            <a:off x="548640" y="3413760"/>
            <a:ext cx="1417320" cy="548640"/>
          </a:xfrm>
          <a:prstGeom prst="roundRect">
            <a:avLst>
              <a:gd name="adj" fmla="val 16667"/>
            </a:avLst>
          </a:prstGeom>
          <a:solidFill>
            <a:srgbClr val="182246"/>
          </a:solidFill>
          <a:ln w="9525">
            <a:solidFill>
              <a:srgbClr val="2A3563"/>
            </a:solidFill>
            <a:prstDash val="solid"/>
          </a:ln>
        </p:spPr>
      </p:sp>
      <p:pic>
        <p:nvPicPr>
          <p:cNvPr id="20" name="Image 2" descr="/home/claude/athar/img/json_c.png">    </p:cNvPr>
          <p:cNvPicPr>
            <a:picLocks noChangeAspect="1"/>
          </p:cNvPicPr>
          <p:nvPr/>
        </p:nvPicPr>
        <p:blipFill>
          <a:blip r:embed="rId4"/>
          <a:stretch>
            <a:fillRect/>
          </a:stretch>
        </p:blipFill>
        <p:spPr>
          <a:xfrm>
            <a:off x="658368" y="3569208"/>
            <a:ext cx="237744" cy="237744"/>
          </a:xfrm>
          <a:prstGeom prst="rect">
            <a:avLst/>
          </a:prstGeom>
        </p:spPr>
      </p:pic>
      <p:sp>
        <p:nvSpPr>
          <p:cNvPr id="21" name="Text 16"/>
          <p:cNvSpPr txBox="1"/>
          <p:nvPr/>
        </p:nvSpPr>
        <p:spPr>
          <a:xfrm>
            <a:off x="969264" y="341376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GCP IAM export</a:t>
            </a:r>
            <a:endParaRPr lang="en-US" sz="1150" dirty="0"/>
          </a:p>
        </p:txBody>
      </p:sp>
      <p:sp>
        <p:nvSpPr>
          <p:cNvPr id="22" name="Shape 17"/>
          <p:cNvSpPr/>
          <p:nvPr/>
        </p:nvSpPr>
        <p:spPr>
          <a:xfrm>
            <a:off x="1965960" y="3688080"/>
            <a:ext cx="164592" cy="0"/>
          </a:xfrm>
          <a:prstGeom prst="line">
            <a:avLst/>
          </a:prstGeom>
          <a:noFill/>
          <a:ln w="15875">
            <a:solidFill>
              <a:srgbClr val="7382A6"/>
            </a:solidFill>
            <a:prstDash val="solid"/>
          </a:ln>
        </p:spPr>
      </p:sp>
      <p:sp>
        <p:nvSpPr>
          <p:cNvPr id="23" name="Shape 18"/>
          <p:cNvSpPr/>
          <p:nvPr/>
        </p:nvSpPr>
        <p:spPr>
          <a:xfrm>
            <a:off x="548640" y="4114800"/>
            <a:ext cx="1417320" cy="548640"/>
          </a:xfrm>
          <a:prstGeom prst="roundRect">
            <a:avLst>
              <a:gd name="adj" fmla="val 16667"/>
            </a:avLst>
          </a:prstGeom>
          <a:solidFill>
            <a:srgbClr val="182246"/>
          </a:solidFill>
          <a:ln w="9525">
            <a:solidFill>
              <a:srgbClr val="8B7CFF"/>
            </a:solidFill>
            <a:prstDash val="solid"/>
          </a:ln>
        </p:spPr>
      </p:sp>
      <p:pic>
        <p:nvPicPr>
          <p:cNvPr id="24" name="Image 3" descr="/home/claude/athar/img/users_v.png">    </p:cNvPr>
          <p:cNvPicPr>
            <a:picLocks noChangeAspect="1"/>
          </p:cNvPicPr>
          <p:nvPr/>
        </p:nvPicPr>
        <p:blipFill>
          <a:blip r:embed="rId5"/>
          <a:stretch>
            <a:fillRect/>
          </a:stretch>
        </p:blipFill>
        <p:spPr>
          <a:xfrm>
            <a:off x="658368" y="4270248"/>
            <a:ext cx="237744" cy="237744"/>
          </a:xfrm>
          <a:prstGeom prst="rect">
            <a:avLst/>
          </a:prstGeom>
        </p:spPr>
      </p:pic>
      <p:sp>
        <p:nvSpPr>
          <p:cNvPr id="25" name="Text 19"/>
          <p:cNvSpPr txBox="1"/>
          <p:nvPr/>
        </p:nvSpPr>
        <p:spPr>
          <a:xfrm>
            <a:off x="969264" y="411480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HR feed</a:t>
            </a:r>
            <a:endParaRPr lang="en-US" sz="1150" dirty="0"/>
          </a:p>
        </p:txBody>
      </p:sp>
      <p:sp>
        <p:nvSpPr>
          <p:cNvPr id="26" name="Shape 20"/>
          <p:cNvSpPr/>
          <p:nvPr/>
        </p:nvSpPr>
        <p:spPr>
          <a:xfrm>
            <a:off x="1965960" y="4389120"/>
            <a:ext cx="164592" cy="0"/>
          </a:xfrm>
          <a:prstGeom prst="line">
            <a:avLst/>
          </a:prstGeom>
          <a:noFill/>
          <a:ln w="15875">
            <a:solidFill>
              <a:srgbClr val="7382A6"/>
            </a:solidFill>
            <a:prstDash val="solid"/>
          </a:ln>
        </p:spPr>
      </p:sp>
      <p:sp>
        <p:nvSpPr>
          <p:cNvPr id="27" name="Shape 21"/>
          <p:cNvSpPr/>
          <p:nvPr/>
        </p:nvSpPr>
        <p:spPr>
          <a:xfrm>
            <a:off x="2130552" y="2286000"/>
            <a:ext cx="0" cy="2103120"/>
          </a:xfrm>
          <a:prstGeom prst="line">
            <a:avLst/>
          </a:prstGeom>
          <a:noFill/>
          <a:ln w="15875">
            <a:solidFill>
              <a:srgbClr val="7382A6"/>
            </a:solidFill>
            <a:prstDash val="solid"/>
          </a:ln>
        </p:spPr>
      </p:sp>
      <p:sp>
        <p:nvSpPr>
          <p:cNvPr id="28" name="Shape 22"/>
          <p:cNvSpPr/>
          <p:nvPr/>
        </p:nvSpPr>
        <p:spPr>
          <a:xfrm>
            <a:off x="2130552" y="3337560"/>
            <a:ext cx="182880" cy="0"/>
          </a:xfrm>
          <a:prstGeom prst="line">
            <a:avLst/>
          </a:prstGeom>
          <a:noFill/>
          <a:ln w="22225">
            <a:solidFill>
              <a:srgbClr val="55E6FF"/>
            </a:solidFill>
            <a:prstDash val="solid"/>
            <a:tailEnd type="triangle"/>
          </a:ln>
        </p:spPr>
      </p:sp>
      <p:sp>
        <p:nvSpPr>
          <p:cNvPr id="29" name="Shape 23"/>
          <p:cNvSpPr/>
          <p:nvPr/>
        </p:nvSpPr>
        <p:spPr>
          <a:xfrm>
            <a:off x="2331720" y="2011680"/>
            <a:ext cx="1554480" cy="2651760"/>
          </a:xfrm>
          <a:prstGeom prst="roundRect">
            <a:avLst>
              <a:gd name="adj" fmla="val 5882"/>
            </a:avLst>
          </a:prstGeom>
          <a:solidFill>
            <a:srgbClr val="121A33"/>
          </a:solidFill>
          <a:ln w="9525">
            <a:solidFill>
              <a:srgbClr val="2A3563"/>
            </a:solidFill>
            <a:prstDash val="solid"/>
          </a:ln>
        </p:spPr>
      </p:sp>
      <p:sp>
        <p:nvSpPr>
          <p:cNvPr id="30" name="Shape 24"/>
          <p:cNvSpPr/>
          <p:nvPr/>
        </p:nvSpPr>
        <p:spPr>
          <a:xfrm>
            <a:off x="2496312" y="2176272"/>
            <a:ext cx="420624" cy="420624"/>
          </a:xfrm>
          <a:prstGeom prst="ellipse">
            <a:avLst/>
          </a:prstGeom>
          <a:solidFill>
            <a:srgbClr val="10304A"/>
          </a:solidFill>
          <a:ln w="12700">
            <a:solidFill>
              <a:srgbClr val="10304A"/>
            </a:solidFill>
            <a:prstDash val="solid"/>
          </a:ln>
        </p:spPr>
      </p:sp>
      <p:pic>
        <p:nvPicPr>
          <p:cNvPr id="31" name="Image 4" descr="/home/claude/athar/img/shuffle_c.png">    </p:cNvPr>
          <p:cNvPicPr>
            <a:picLocks noChangeAspect="1"/>
          </p:cNvPicPr>
          <p:nvPr/>
        </p:nvPicPr>
        <p:blipFill>
          <a:blip r:embed="rId6"/>
          <a:stretch>
            <a:fillRect/>
          </a:stretch>
        </p:blipFill>
        <p:spPr>
          <a:xfrm>
            <a:off x="2588849" y="2268809"/>
            <a:ext cx="235549" cy="235549"/>
          </a:xfrm>
          <a:prstGeom prst="rect">
            <a:avLst/>
          </a:prstGeom>
        </p:spPr>
      </p:pic>
      <p:sp>
        <p:nvSpPr>
          <p:cNvPr id="32" name="Text 25"/>
          <p:cNvSpPr txBox="1"/>
          <p:nvPr/>
        </p:nvSpPr>
        <p:spPr>
          <a:xfrm>
            <a:off x="2496312" y="2706624"/>
            <a:ext cx="1280160" cy="502920"/>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Normaliser &amp; linker</a:t>
            </a:r>
            <a:endParaRPr lang="en-US" sz="1400" dirty="0"/>
          </a:p>
        </p:txBody>
      </p:sp>
      <p:sp>
        <p:nvSpPr>
          <p:cNvPr id="33" name="Text 26"/>
          <p:cNvSpPr txBox="1"/>
          <p:nvPr/>
        </p:nvSpPr>
        <p:spPr>
          <a:xfrm>
            <a:off x="2496312" y="3291840"/>
            <a:ext cx="1280160" cy="411480"/>
          </a:xfrm>
          <a:prstGeom prst="rect">
            <a:avLst/>
          </a:prstGeom>
          <a:noFill/>
          <a:ln/>
        </p:spPr>
        <p:txBody>
          <a:bodyPr wrap="square" lIns="0" tIns="0" rIns="0" bIns="0" rtlCol="0" anchor="t"/>
          <a:lstStyle/>
          <a:p>
            <a:pPr indent="0" marL="0">
              <a:buNone/>
            </a:pPr>
            <a:r>
              <a:rPr lang="en-US" sz="1200" dirty="0">
                <a:solidFill>
                  <a:srgbClr val="FFFFFF"/>
                </a:solidFill>
                <a:latin typeface="Inter" pitchFamily="34" charset="0"/>
                <a:ea typeface="Inter" pitchFamily="34" charset="-122"/>
                <a:cs typeface="Inter" pitchFamily="34" charset="-120"/>
              </a:rPr>
              <a:t>One canonical permission model</a:t>
            </a:r>
            <a:endParaRPr lang="en-US" sz="1200" dirty="0"/>
          </a:p>
        </p:txBody>
      </p:sp>
      <p:sp>
        <p:nvSpPr>
          <p:cNvPr id="34" name="Text 27"/>
          <p:cNvSpPr txBox="1"/>
          <p:nvPr/>
        </p:nvSpPr>
        <p:spPr>
          <a:xfrm>
            <a:off x="2496312" y="3840480"/>
            <a:ext cx="1280160" cy="640080"/>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Provenance: raw provider JSON kept on every row</a:t>
            </a:r>
            <a:endParaRPr lang="en-US" sz="1100" dirty="0"/>
          </a:p>
        </p:txBody>
      </p:sp>
      <p:sp>
        <p:nvSpPr>
          <p:cNvPr id="35" name="Shape 28"/>
          <p:cNvSpPr/>
          <p:nvPr/>
        </p:nvSpPr>
        <p:spPr>
          <a:xfrm>
            <a:off x="3886200" y="3337560"/>
            <a:ext cx="347472" cy="0"/>
          </a:xfrm>
          <a:prstGeom prst="line">
            <a:avLst/>
          </a:prstGeom>
          <a:noFill/>
          <a:ln w="22225">
            <a:solidFill>
              <a:srgbClr val="55E6FF"/>
            </a:solidFill>
            <a:prstDash val="solid"/>
            <a:tailEnd type="triangle"/>
          </a:ln>
        </p:spPr>
      </p:sp>
      <p:sp>
        <p:nvSpPr>
          <p:cNvPr id="36" name="Shape 29"/>
          <p:cNvSpPr/>
          <p:nvPr/>
        </p:nvSpPr>
        <p:spPr>
          <a:xfrm>
            <a:off x="4251960" y="2011680"/>
            <a:ext cx="2743200" cy="2651760"/>
          </a:xfrm>
          <a:prstGeom prst="roundRect">
            <a:avLst>
              <a:gd name="adj" fmla="val 3448"/>
            </a:avLst>
          </a:prstGeom>
          <a:solidFill>
            <a:srgbClr val="121A33"/>
          </a:solidFill>
          <a:ln w="15875">
            <a:solidFill>
              <a:srgbClr val="55E6FF"/>
            </a:solidFill>
            <a:prstDash val="solid"/>
          </a:ln>
        </p:spPr>
      </p:sp>
      <p:sp>
        <p:nvSpPr>
          <p:cNvPr id="37" name="Text 30"/>
          <p:cNvSpPr txBox="1"/>
          <p:nvPr/>
        </p:nvSpPr>
        <p:spPr>
          <a:xfrm>
            <a:off x="4434840" y="2121408"/>
            <a:ext cx="1280160" cy="329184"/>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Rule engine</a:t>
            </a:r>
            <a:endParaRPr lang="en-US" sz="1400" dirty="0"/>
          </a:p>
        </p:txBody>
      </p:sp>
      <p:sp>
        <p:nvSpPr>
          <p:cNvPr id="38" name="Text 31"/>
          <p:cNvSpPr txBox="1"/>
          <p:nvPr/>
        </p:nvSpPr>
        <p:spPr>
          <a:xfrm>
            <a:off x="5394960" y="2121408"/>
            <a:ext cx="1417320" cy="329184"/>
          </a:xfrm>
          <a:prstGeom prst="rect">
            <a:avLst/>
          </a:prstGeom>
          <a:noFill/>
          <a:ln/>
        </p:spPr>
        <p:txBody>
          <a:bodyPr wrap="square" lIns="0" tIns="0" rIns="0" bIns="0" rtlCol="0" anchor="ctr"/>
          <a:lstStyle/>
          <a:p>
            <a:pPr algn="r" indent="0" marL="0">
              <a:buNone/>
            </a:pPr>
            <a:r>
              <a:rPr lang="en-US" sz="1050" i="1" dirty="0">
                <a:solidFill>
                  <a:srgbClr val="55E6FF"/>
                </a:solidFill>
                <a:latin typeface="Inter" pitchFamily="34" charset="0"/>
                <a:ea typeface="Inter" pitchFamily="34" charset="-122"/>
                <a:cs typeface="Inter" pitchFamily="34" charset="-120"/>
              </a:rPr>
              <a:t>owns every decision</a:t>
            </a:r>
            <a:endParaRPr lang="en-US" sz="1050" dirty="0"/>
          </a:p>
        </p:txBody>
      </p:sp>
      <p:sp>
        <p:nvSpPr>
          <p:cNvPr id="39" name="Shape 32"/>
          <p:cNvSpPr/>
          <p:nvPr/>
        </p:nvSpPr>
        <p:spPr>
          <a:xfrm>
            <a:off x="4416552" y="2523744"/>
            <a:ext cx="2414016" cy="310896"/>
          </a:xfrm>
          <a:prstGeom prst="roundRect">
            <a:avLst>
              <a:gd name="adj" fmla="val 17647"/>
            </a:avLst>
          </a:prstGeom>
          <a:solidFill>
            <a:srgbClr val="182246"/>
          </a:solidFill>
          <a:ln w="9525">
            <a:solidFill>
              <a:srgbClr val="2A3563"/>
            </a:solidFill>
            <a:prstDash val="solid"/>
          </a:ln>
        </p:spPr>
      </p:sp>
      <p:pic>
        <p:nvPicPr>
          <p:cNvPr id="40" name="Image 5" descr="/home/claude/athar/img/gitbranch_c.png">    </p:cNvPr>
          <p:cNvPicPr>
            <a:picLocks noChangeAspect="1"/>
          </p:cNvPicPr>
          <p:nvPr/>
        </p:nvPicPr>
        <p:blipFill>
          <a:blip r:embed="rId7"/>
          <a:stretch>
            <a:fillRect/>
          </a:stretch>
        </p:blipFill>
        <p:spPr>
          <a:xfrm>
            <a:off x="4507992" y="2578608"/>
            <a:ext cx="201168" cy="201168"/>
          </a:xfrm>
          <a:prstGeom prst="rect">
            <a:avLst/>
          </a:prstGeom>
        </p:spPr>
      </p:pic>
      <p:sp>
        <p:nvSpPr>
          <p:cNvPr id="41" name="Text 33"/>
          <p:cNvSpPr txBox="1"/>
          <p:nvPr/>
        </p:nvSpPr>
        <p:spPr>
          <a:xfrm>
            <a:off x="4800600" y="2523744"/>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11 detection rules · R0–R10</a:t>
            </a:r>
            <a:endParaRPr lang="en-US" sz="1150" dirty="0"/>
          </a:p>
        </p:txBody>
      </p:sp>
      <p:sp>
        <p:nvSpPr>
          <p:cNvPr id="42" name="Shape 34"/>
          <p:cNvSpPr/>
          <p:nvPr/>
        </p:nvSpPr>
        <p:spPr>
          <a:xfrm>
            <a:off x="4416552" y="2907792"/>
            <a:ext cx="2414016" cy="310896"/>
          </a:xfrm>
          <a:prstGeom prst="roundRect">
            <a:avLst>
              <a:gd name="adj" fmla="val 17647"/>
            </a:avLst>
          </a:prstGeom>
          <a:solidFill>
            <a:srgbClr val="182246"/>
          </a:solidFill>
          <a:ln w="9525">
            <a:solidFill>
              <a:srgbClr val="2A3563"/>
            </a:solidFill>
            <a:prstDash val="solid"/>
          </a:ln>
        </p:spPr>
      </p:sp>
      <p:pic>
        <p:nvPicPr>
          <p:cNvPr id="43" name="Image 6" descr="/home/claude/athar/img/network_c.png">    </p:cNvPr>
          <p:cNvPicPr>
            <a:picLocks noChangeAspect="1"/>
          </p:cNvPicPr>
          <p:nvPr/>
        </p:nvPicPr>
        <p:blipFill>
          <a:blip r:embed="rId8"/>
          <a:stretch>
            <a:fillRect/>
          </a:stretch>
        </p:blipFill>
        <p:spPr>
          <a:xfrm>
            <a:off x="4507992" y="2962656"/>
            <a:ext cx="201168" cy="201168"/>
          </a:xfrm>
          <a:prstGeom prst="rect">
            <a:avLst/>
          </a:prstGeom>
        </p:spPr>
      </p:pic>
      <p:sp>
        <p:nvSpPr>
          <p:cNvPr id="44" name="Text 35"/>
          <p:cNvSpPr txBox="1"/>
          <p:nvPr/>
        </p:nvSpPr>
        <p:spPr>
          <a:xfrm>
            <a:off x="4800600" y="2907792"/>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Access graph</a:t>
            </a:r>
            <a:endParaRPr lang="en-US" sz="1150" dirty="0"/>
          </a:p>
        </p:txBody>
      </p:sp>
      <p:sp>
        <p:nvSpPr>
          <p:cNvPr id="45" name="Shape 36"/>
          <p:cNvSpPr/>
          <p:nvPr/>
        </p:nvSpPr>
        <p:spPr>
          <a:xfrm>
            <a:off x="4416552" y="3291840"/>
            <a:ext cx="2414016" cy="310896"/>
          </a:xfrm>
          <a:prstGeom prst="roundRect">
            <a:avLst>
              <a:gd name="adj" fmla="val 17647"/>
            </a:avLst>
          </a:prstGeom>
          <a:solidFill>
            <a:srgbClr val="182246"/>
          </a:solidFill>
          <a:ln w="9525">
            <a:solidFill>
              <a:srgbClr val="2A3563"/>
            </a:solidFill>
            <a:prstDash val="solid"/>
          </a:ln>
        </p:spPr>
      </p:sp>
      <p:pic>
        <p:nvPicPr>
          <p:cNvPr id="46" name="Image 7" descr="/home/claude/athar/img/target_c.png">    </p:cNvPr>
          <p:cNvPicPr>
            <a:picLocks noChangeAspect="1"/>
          </p:cNvPicPr>
          <p:nvPr/>
        </p:nvPicPr>
        <p:blipFill>
          <a:blip r:embed="rId9"/>
          <a:stretch>
            <a:fillRect/>
          </a:stretch>
        </p:blipFill>
        <p:spPr>
          <a:xfrm>
            <a:off x="4507992" y="3346704"/>
            <a:ext cx="201168" cy="201168"/>
          </a:xfrm>
          <a:prstGeom prst="rect">
            <a:avLst/>
          </a:prstGeom>
        </p:spPr>
      </p:pic>
      <p:sp>
        <p:nvSpPr>
          <p:cNvPr id="47" name="Text 37"/>
          <p:cNvSpPr txBox="1"/>
          <p:nvPr/>
        </p:nvSpPr>
        <p:spPr>
          <a:xfrm>
            <a:off x="4800600" y="3291840"/>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Blast-radius scoring</a:t>
            </a:r>
            <a:endParaRPr lang="en-US" sz="1150" dirty="0"/>
          </a:p>
        </p:txBody>
      </p:sp>
      <p:sp>
        <p:nvSpPr>
          <p:cNvPr id="48" name="Shape 38"/>
          <p:cNvSpPr/>
          <p:nvPr/>
        </p:nvSpPr>
        <p:spPr>
          <a:xfrm>
            <a:off x="4416552" y="3675888"/>
            <a:ext cx="2414016" cy="310896"/>
          </a:xfrm>
          <a:prstGeom prst="roundRect">
            <a:avLst>
              <a:gd name="adj" fmla="val 17647"/>
            </a:avLst>
          </a:prstGeom>
          <a:solidFill>
            <a:srgbClr val="182246"/>
          </a:solidFill>
          <a:ln w="9525">
            <a:solidFill>
              <a:srgbClr val="2A3563"/>
            </a:solidFill>
            <a:prstDash val="solid"/>
          </a:ln>
        </p:spPr>
      </p:sp>
      <p:pic>
        <p:nvPicPr>
          <p:cNvPr id="49" name="Image 8" descr="/home/claude/athar/img/layers_c.png">    </p:cNvPr>
          <p:cNvPicPr>
            <a:picLocks noChangeAspect="1"/>
          </p:cNvPicPr>
          <p:nvPr/>
        </p:nvPicPr>
        <p:blipFill>
          <a:blip r:embed="rId10"/>
          <a:stretch>
            <a:fillRect/>
          </a:stretch>
        </p:blipFill>
        <p:spPr>
          <a:xfrm>
            <a:off x="4507992" y="3730752"/>
            <a:ext cx="201168" cy="201168"/>
          </a:xfrm>
          <a:prstGeom prst="rect">
            <a:avLst/>
          </a:prstGeom>
        </p:spPr>
      </p:pic>
      <p:sp>
        <p:nvSpPr>
          <p:cNvPr id="50" name="Text 39"/>
          <p:cNvSpPr txBox="1"/>
          <p:nvPr/>
        </p:nvSpPr>
        <p:spPr>
          <a:xfrm>
            <a:off x="4800600" y="3675888"/>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Drift engine · monthly diff</a:t>
            </a:r>
            <a:endParaRPr lang="en-US" sz="1150" dirty="0"/>
          </a:p>
        </p:txBody>
      </p:sp>
      <p:sp>
        <p:nvSpPr>
          <p:cNvPr id="51" name="Shape 40"/>
          <p:cNvSpPr/>
          <p:nvPr/>
        </p:nvSpPr>
        <p:spPr>
          <a:xfrm>
            <a:off x="5623560" y="3959352"/>
            <a:ext cx="0" cy="128016"/>
          </a:xfrm>
          <a:prstGeom prst="line">
            <a:avLst/>
          </a:prstGeom>
          <a:noFill/>
          <a:ln w="22225">
            <a:solidFill>
              <a:srgbClr val="55E6FF"/>
            </a:solidFill>
            <a:prstDash val="solid"/>
            <a:tailEnd type="triangle"/>
          </a:ln>
        </p:spPr>
      </p:sp>
      <p:sp>
        <p:nvSpPr>
          <p:cNvPr id="52" name="Shape 41"/>
          <p:cNvSpPr/>
          <p:nvPr/>
        </p:nvSpPr>
        <p:spPr>
          <a:xfrm>
            <a:off x="4416552" y="4096512"/>
            <a:ext cx="2414016" cy="457200"/>
          </a:xfrm>
          <a:prstGeom prst="roundRect">
            <a:avLst>
              <a:gd name="adj" fmla="val 12000"/>
            </a:avLst>
          </a:prstGeom>
          <a:solidFill>
            <a:srgbClr val="10304A"/>
          </a:solidFill>
          <a:ln w="9525">
            <a:solidFill>
              <a:srgbClr val="55E6FF"/>
            </a:solidFill>
            <a:prstDash val="solid"/>
          </a:ln>
        </p:spPr>
      </p:sp>
      <p:sp>
        <p:nvSpPr>
          <p:cNvPr id="53" name="Text 42"/>
          <p:cNvSpPr txBox="1"/>
          <p:nvPr/>
        </p:nvSpPr>
        <p:spPr>
          <a:xfrm>
            <a:off x="4416552" y="4096512"/>
            <a:ext cx="2414016" cy="457200"/>
          </a:xfrm>
          <a:prstGeom prst="rect">
            <a:avLst/>
          </a:prstGeom>
          <a:noFill/>
          <a:ln/>
        </p:spPr>
        <p:txBody>
          <a:bodyPr wrap="square" lIns="0" tIns="0" rIns="0" bIns="0" rtlCol="0" anchor="ctr"/>
          <a:lstStyle/>
          <a:p>
            <a:pPr algn="ctr" indent="0" marL="0">
              <a:buNone/>
            </a:pPr>
            <a:r>
              <a:rPr lang="en-US" sz="1150" b="1" dirty="0">
                <a:solidFill>
                  <a:srgbClr val="55E6FF"/>
                </a:solidFill>
                <a:latin typeface="Inter" pitchFamily="34" charset="0"/>
                <a:ea typeface="Inter" pitchFamily="34" charset="-122"/>
                <a:cs typeface="Inter" pitchFamily="34" charset="-120"/>
              </a:rPr>
              <a:t>Findings store</a:t>
            </a:r>
            <a:endParaRPr lang="en-US" sz="1150" dirty="0"/>
          </a:p>
          <a:p>
            <a:pPr algn="ctr" indent="0" marL="0">
              <a:buNone/>
            </a:pPr>
            <a:r>
              <a:rPr lang="en-US" sz="1050" dirty="0">
                <a:solidFill>
                  <a:srgbClr val="FFFFFF"/>
                </a:solidFill>
                <a:latin typeface="Inter" pitchFamily="34" charset="0"/>
                <a:ea typeface="Inter" pitchFamily="34" charset="-122"/>
                <a:cs typeface="Inter" pitchFamily="34" charset="-120"/>
              </a:rPr>
              <a:t>severity · score · action</a:t>
            </a:r>
            <a:endParaRPr lang="en-US" sz="1150" dirty="0"/>
          </a:p>
        </p:txBody>
      </p:sp>
      <p:sp>
        <p:nvSpPr>
          <p:cNvPr id="54" name="Shape 43"/>
          <p:cNvSpPr/>
          <p:nvPr/>
        </p:nvSpPr>
        <p:spPr>
          <a:xfrm>
            <a:off x="6995160" y="3337560"/>
            <a:ext cx="182880" cy="0"/>
          </a:xfrm>
          <a:prstGeom prst="line">
            <a:avLst/>
          </a:prstGeom>
          <a:noFill/>
          <a:ln w="19050">
            <a:solidFill>
              <a:srgbClr val="55E6FF"/>
            </a:solidFill>
            <a:prstDash val="solid"/>
          </a:ln>
        </p:spPr>
      </p:sp>
      <p:sp>
        <p:nvSpPr>
          <p:cNvPr id="55" name="Shape 44"/>
          <p:cNvSpPr/>
          <p:nvPr/>
        </p:nvSpPr>
        <p:spPr>
          <a:xfrm>
            <a:off x="7178040" y="2404872"/>
            <a:ext cx="0" cy="1865376"/>
          </a:xfrm>
          <a:prstGeom prst="line">
            <a:avLst/>
          </a:prstGeom>
          <a:noFill/>
          <a:ln w="19050">
            <a:solidFill>
              <a:srgbClr val="55E6FF"/>
            </a:solidFill>
            <a:prstDash val="solid"/>
          </a:ln>
        </p:spPr>
      </p:sp>
      <p:sp>
        <p:nvSpPr>
          <p:cNvPr id="56" name="Shape 45"/>
          <p:cNvSpPr/>
          <p:nvPr/>
        </p:nvSpPr>
        <p:spPr>
          <a:xfrm>
            <a:off x="7178040" y="2404872"/>
            <a:ext cx="164592" cy="0"/>
          </a:xfrm>
          <a:prstGeom prst="line">
            <a:avLst/>
          </a:prstGeom>
          <a:noFill/>
          <a:ln w="22225">
            <a:solidFill>
              <a:srgbClr val="55E6FF"/>
            </a:solidFill>
            <a:prstDash val="solid"/>
            <a:tailEnd type="triangle"/>
          </a:ln>
        </p:spPr>
      </p:sp>
      <p:sp>
        <p:nvSpPr>
          <p:cNvPr id="57" name="Shape 46"/>
          <p:cNvSpPr/>
          <p:nvPr/>
        </p:nvSpPr>
        <p:spPr>
          <a:xfrm>
            <a:off x="7360920" y="2011680"/>
            <a:ext cx="2587752" cy="786384"/>
          </a:xfrm>
          <a:prstGeom prst="roundRect">
            <a:avLst>
              <a:gd name="adj" fmla="val 11628"/>
            </a:avLst>
          </a:prstGeom>
          <a:solidFill>
            <a:srgbClr val="121A33"/>
          </a:solidFill>
          <a:ln w="15875">
            <a:solidFill>
              <a:srgbClr val="55E6FF"/>
            </a:solidFill>
            <a:prstDash val="solid"/>
          </a:ln>
        </p:spPr>
      </p:sp>
      <p:sp>
        <p:nvSpPr>
          <p:cNvPr id="58" name="Shape 47"/>
          <p:cNvSpPr/>
          <p:nvPr/>
        </p:nvSpPr>
        <p:spPr>
          <a:xfrm>
            <a:off x="7488936" y="2194560"/>
            <a:ext cx="402336" cy="402336"/>
          </a:xfrm>
          <a:prstGeom prst="ellipse">
            <a:avLst/>
          </a:prstGeom>
          <a:solidFill>
            <a:srgbClr val="10304A"/>
          </a:solidFill>
          <a:ln w="12700">
            <a:solidFill>
              <a:srgbClr val="10304A"/>
            </a:solidFill>
            <a:prstDash val="solid"/>
          </a:ln>
        </p:spPr>
      </p:sp>
      <p:pic>
        <p:nvPicPr>
          <p:cNvPr id="59" name="Image 9" descr="/home/claude/athar/img/blocks_c.png">    </p:cNvPr>
          <p:cNvPicPr>
            <a:picLocks noChangeAspect="1"/>
          </p:cNvPicPr>
          <p:nvPr/>
        </p:nvPicPr>
        <p:blipFill>
          <a:blip r:embed="rId11"/>
          <a:stretch>
            <a:fillRect/>
          </a:stretch>
        </p:blipFill>
        <p:spPr>
          <a:xfrm>
            <a:off x="7577450" y="2283074"/>
            <a:ext cx="225308" cy="225308"/>
          </a:xfrm>
          <a:prstGeom prst="rect">
            <a:avLst/>
          </a:prstGeom>
        </p:spPr>
      </p:pic>
      <p:sp>
        <p:nvSpPr>
          <p:cNvPr id="60" name="Text 48"/>
          <p:cNvSpPr txBox="1"/>
          <p:nvPr/>
        </p:nvSpPr>
        <p:spPr>
          <a:xfrm>
            <a:off x="7982712" y="2084832"/>
            <a:ext cx="1892808"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Merkle ledger</a:t>
            </a:r>
            <a:endParaRPr lang="en-US" sz="1250" dirty="0"/>
          </a:p>
        </p:txBody>
      </p:sp>
      <p:sp>
        <p:nvSpPr>
          <p:cNvPr id="61" name="Text 49"/>
          <p:cNvSpPr txBox="1"/>
          <p:nvPr/>
        </p:nvSpPr>
        <p:spPr>
          <a:xfrm>
            <a:off x="7982712" y="2377440"/>
            <a:ext cx="1892808"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Root committed to GovernanceLedger.sol</a:t>
            </a:r>
            <a:endParaRPr lang="en-US" sz="1050" dirty="0"/>
          </a:p>
        </p:txBody>
      </p:sp>
      <p:sp>
        <p:nvSpPr>
          <p:cNvPr id="62" name="Shape 50"/>
          <p:cNvSpPr/>
          <p:nvPr/>
        </p:nvSpPr>
        <p:spPr>
          <a:xfrm>
            <a:off x="7178040" y="3337560"/>
            <a:ext cx="164592" cy="0"/>
          </a:xfrm>
          <a:prstGeom prst="line">
            <a:avLst/>
          </a:prstGeom>
          <a:noFill/>
          <a:ln w="22225">
            <a:solidFill>
              <a:srgbClr val="55E6FF"/>
            </a:solidFill>
            <a:prstDash val="solid"/>
            <a:tailEnd type="triangle"/>
          </a:ln>
        </p:spPr>
      </p:sp>
      <p:sp>
        <p:nvSpPr>
          <p:cNvPr id="63" name="Shape 51"/>
          <p:cNvSpPr/>
          <p:nvPr/>
        </p:nvSpPr>
        <p:spPr>
          <a:xfrm>
            <a:off x="7360920" y="2944368"/>
            <a:ext cx="2587752" cy="786384"/>
          </a:xfrm>
          <a:prstGeom prst="roundRect">
            <a:avLst>
              <a:gd name="adj" fmla="val 11628"/>
            </a:avLst>
          </a:prstGeom>
          <a:solidFill>
            <a:srgbClr val="121A33"/>
          </a:solidFill>
          <a:ln w="15875">
            <a:solidFill>
              <a:srgbClr val="8B7CFF"/>
            </a:solidFill>
            <a:prstDash val="solid"/>
          </a:ln>
        </p:spPr>
      </p:sp>
      <p:sp>
        <p:nvSpPr>
          <p:cNvPr id="64" name="Shape 52"/>
          <p:cNvSpPr/>
          <p:nvPr/>
        </p:nvSpPr>
        <p:spPr>
          <a:xfrm>
            <a:off x="7488936" y="3127248"/>
            <a:ext cx="402336" cy="402336"/>
          </a:xfrm>
          <a:prstGeom prst="ellipse">
            <a:avLst/>
          </a:prstGeom>
          <a:solidFill>
            <a:srgbClr val="1E1D4A"/>
          </a:solidFill>
          <a:ln w="12700">
            <a:solidFill>
              <a:srgbClr val="1E1D4A"/>
            </a:solidFill>
            <a:prstDash val="solid"/>
          </a:ln>
        </p:spPr>
      </p:sp>
      <p:pic>
        <p:nvPicPr>
          <p:cNvPr id="65" name="Image 10" descr="/home/claude/athar/img/bot_v.png">    </p:cNvPr>
          <p:cNvPicPr>
            <a:picLocks noChangeAspect="1"/>
          </p:cNvPicPr>
          <p:nvPr/>
        </p:nvPicPr>
        <p:blipFill>
          <a:blip r:embed="rId12"/>
          <a:stretch>
            <a:fillRect/>
          </a:stretch>
        </p:blipFill>
        <p:spPr>
          <a:xfrm>
            <a:off x="7577450" y="3215762"/>
            <a:ext cx="225308" cy="225308"/>
          </a:xfrm>
          <a:prstGeom prst="rect">
            <a:avLst/>
          </a:prstGeom>
        </p:spPr>
      </p:pic>
      <p:sp>
        <p:nvSpPr>
          <p:cNvPr id="66" name="Text 53"/>
          <p:cNvSpPr txBox="1"/>
          <p:nvPr/>
        </p:nvSpPr>
        <p:spPr>
          <a:xfrm>
            <a:off x="7982712" y="3017520"/>
            <a:ext cx="1892808"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LLM agents · ATHAR-MCP</a:t>
            </a:r>
            <a:endParaRPr lang="en-US" sz="1250" dirty="0"/>
          </a:p>
        </p:txBody>
      </p:sp>
      <p:sp>
        <p:nvSpPr>
          <p:cNvPr id="67" name="Text 54"/>
          <p:cNvSpPr txBox="1"/>
          <p:nvPr/>
        </p:nvSpPr>
        <p:spPr>
          <a:xfrm>
            <a:off x="7982712" y="3310128"/>
            <a:ext cx="1892808"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Investigate · plan fix · MCP tools any AI can call</a:t>
            </a:r>
            <a:endParaRPr lang="en-US" sz="1050" dirty="0"/>
          </a:p>
        </p:txBody>
      </p:sp>
      <p:sp>
        <p:nvSpPr>
          <p:cNvPr id="68" name="Shape 55"/>
          <p:cNvSpPr/>
          <p:nvPr/>
        </p:nvSpPr>
        <p:spPr>
          <a:xfrm>
            <a:off x="7178040" y="4270248"/>
            <a:ext cx="164592" cy="0"/>
          </a:xfrm>
          <a:prstGeom prst="line">
            <a:avLst/>
          </a:prstGeom>
          <a:noFill/>
          <a:ln w="22225">
            <a:solidFill>
              <a:srgbClr val="55E6FF"/>
            </a:solidFill>
            <a:prstDash val="solid"/>
            <a:tailEnd type="triangle"/>
          </a:ln>
        </p:spPr>
      </p:sp>
      <p:sp>
        <p:nvSpPr>
          <p:cNvPr id="69" name="Shape 56"/>
          <p:cNvSpPr/>
          <p:nvPr/>
        </p:nvSpPr>
        <p:spPr>
          <a:xfrm>
            <a:off x="7360920" y="3877056"/>
            <a:ext cx="2587752" cy="786384"/>
          </a:xfrm>
          <a:prstGeom prst="roundRect">
            <a:avLst>
              <a:gd name="adj" fmla="val 11628"/>
            </a:avLst>
          </a:prstGeom>
          <a:solidFill>
            <a:srgbClr val="121A33"/>
          </a:solidFill>
          <a:ln w="9525">
            <a:solidFill>
              <a:srgbClr val="2A3563"/>
            </a:solidFill>
            <a:prstDash val="solid"/>
          </a:ln>
        </p:spPr>
      </p:sp>
      <p:sp>
        <p:nvSpPr>
          <p:cNvPr id="70" name="Shape 57"/>
          <p:cNvSpPr/>
          <p:nvPr/>
        </p:nvSpPr>
        <p:spPr>
          <a:xfrm>
            <a:off x="7488936" y="4059936"/>
            <a:ext cx="402336" cy="402336"/>
          </a:xfrm>
          <a:prstGeom prst="ellipse">
            <a:avLst/>
          </a:prstGeom>
          <a:solidFill>
            <a:srgbClr val="10304A"/>
          </a:solidFill>
          <a:ln w="12700">
            <a:solidFill>
              <a:srgbClr val="10304A"/>
            </a:solidFill>
            <a:prstDash val="solid"/>
          </a:ln>
        </p:spPr>
      </p:sp>
      <p:pic>
        <p:nvPicPr>
          <p:cNvPr id="71" name="Image 11" descr="/home/claude/athar/img/usercheck_c.png">    </p:cNvPr>
          <p:cNvPicPr>
            <a:picLocks noChangeAspect="1"/>
          </p:cNvPicPr>
          <p:nvPr/>
        </p:nvPicPr>
        <p:blipFill>
          <a:blip r:embed="rId13"/>
          <a:stretch>
            <a:fillRect/>
          </a:stretch>
        </p:blipFill>
        <p:spPr>
          <a:xfrm>
            <a:off x="7577450" y="4148450"/>
            <a:ext cx="225308" cy="225308"/>
          </a:xfrm>
          <a:prstGeom prst="rect">
            <a:avLst/>
          </a:prstGeom>
        </p:spPr>
      </p:pic>
      <p:sp>
        <p:nvSpPr>
          <p:cNvPr id="72" name="Text 58"/>
          <p:cNvSpPr txBox="1"/>
          <p:nvPr/>
        </p:nvSpPr>
        <p:spPr>
          <a:xfrm>
            <a:off x="7982712" y="3950208"/>
            <a:ext cx="1892808"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Human-approved fixes</a:t>
            </a:r>
            <a:endParaRPr lang="en-US" sz="1250" dirty="0"/>
          </a:p>
        </p:txBody>
      </p:sp>
      <p:sp>
        <p:nvSpPr>
          <p:cNvPr id="73" name="Text 59"/>
          <p:cNvSpPr txBox="1"/>
          <p:nvPr/>
        </p:nvSpPr>
        <p:spPr>
          <a:xfrm>
            <a:off x="7982712" y="4242816"/>
            <a:ext cx="1892808"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Least-privilege drafts · enforced SoD</a:t>
            </a:r>
            <a:endParaRPr lang="en-US" sz="1050" dirty="0"/>
          </a:p>
        </p:txBody>
      </p:sp>
      <p:sp>
        <p:nvSpPr>
          <p:cNvPr id="74" name="Shape 60"/>
          <p:cNvSpPr/>
          <p:nvPr/>
        </p:nvSpPr>
        <p:spPr>
          <a:xfrm>
            <a:off x="9948672" y="2404872"/>
            <a:ext cx="155448" cy="0"/>
          </a:xfrm>
          <a:prstGeom prst="line">
            <a:avLst/>
          </a:prstGeom>
          <a:noFill/>
          <a:ln w="15875">
            <a:solidFill>
              <a:srgbClr val="7382A6"/>
            </a:solidFill>
            <a:prstDash val="solid"/>
          </a:ln>
        </p:spPr>
      </p:sp>
      <p:sp>
        <p:nvSpPr>
          <p:cNvPr id="75" name="Shape 61"/>
          <p:cNvSpPr/>
          <p:nvPr/>
        </p:nvSpPr>
        <p:spPr>
          <a:xfrm>
            <a:off x="9948672" y="3337560"/>
            <a:ext cx="155448" cy="0"/>
          </a:xfrm>
          <a:prstGeom prst="line">
            <a:avLst/>
          </a:prstGeom>
          <a:noFill/>
          <a:ln w="15875">
            <a:solidFill>
              <a:srgbClr val="7382A6"/>
            </a:solidFill>
            <a:prstDash val="solid"/>
          </a:ln>
        </p:spPr>
      </p:sp>
      <p:sp>
        <p:nvSpPr>
          <p:cNvPr id="76" name="Shape 62"/>
          <p:cNvSpPr/>
          <p:nvPr/>
        </p:nvSpPr>
        <p:spPr>
          <a:xfrm>
            <a:off x="9948672" y="4270248"/>
            <a:ext cx="155448" cy="0"/>
          </a:xfrm>
          <a:prstGeom prst="line">
            <a:avLst/>
          </a:prstGeom>
          <a:noFill/>
          <a:ln w="15875">
            <a:solidFill>
              <a:srgbClr val="7382A6"/>
            </a:solidFill>
            <a:prstDash val="solid"/>
          </a:ln>
        </p:spPr>
      </p:sp>
      <p:sp>
        <p:nvSpPr>
          <p:cNvPr id="77" name="Shape 63"/>
          <p:cNvSpPr/>
          <p:nvPr/>
        </p:nvSpPr>
        <p:spPr>
          <a:xfrm>
            <a:off x="10104120" y="2404872"/>
            <a:ext cx="0" cy="1865376"/>
          </a:xfrm>
          <a:prstGeom prst="line">
            <a:avLst/>
          </a:prstGeom>
          <a:noFill/>
          <a:ln w="15875">
            <a:solidFill>
              <a:srgbClr val="7382A6"/>
            </a:solidFill>
            <a:prstDash val="solid"/>
          </a:ln>
        </p:spPr>
      </p:sp>
      <p:sp>
        <p:nvSpPr>
          <p:cNvPr id="78" name="Shape 64"/>
          <p:cNvSpPr/>
          <p:nvPr/>
        </p:nvSpPr>
        <p:spPr>
          <a:xfrm>
            <a:off x="10104120" y="3337560"/>
            <a:ext cx="146304" cy="0"/>
          </a:xfrm>
          <a:prstGeom prst="line">
            <a:avLst/>
          </a:prstGeom>
          <a:noFill/>
          <a:ln w="22225">
            <a:solidFill>
              <a:srgbClr val="55E6FF"/>
            </a:solidFill>
            <a:prstDash val="solid"/>
            <a:tailEnd type="triangle"/>
          </a:ln>
        </p:spPr>
      </p:sp>
      <p:sp>
        <p:nvSpPr>
          <p:cNvPr id="79" name="Shape 65"/>
          <p:cNvSpPr/>
          <p:nvPr/>
        </p:nvSpPr>
        <p:spPr>
          <a:xfrm>
            <a:off x="10268712" y="2011680"/>
            <a:ext cx="1371600" cy="1261872"/>
          </a:xfrm>
          <a:prstGeom prst="roundRect">
            <a:avLst>
              <a:gd name="adj" fmla="val 7246"/>
            </a:avLst>
          </a:prstGeom>
          <a:solidFill>
            <a:srgbClr val="121A33"/>
          </a:solidFill>
          <a:ln w="9525">
            <a:solidFill>
              <a:srgbClr val="2A3563"/>
            </a:solidFill>
            <a:prstDash val="solid"/>
          </a:ln>
        </p:spPr>
      </p:sp>
      <p:pic>
        <p:nvPicPr>
          <p:cNvPr id="80" name="Image 12" descr="/home/claude/athar/img/dash_c.png">    </p:cNvPr>
          <p:cNvPicPr>
            <a:picLocks noChangeAspect="1"/>
          </p:cNvPicPr>
          <p:nvPr/>
        </p:nvPicPr>
        <p:blipFill>
          <a:blip r:embed="rId14"/>
          <a:stretch>
            <a:fillRect/>
          </a:stretch>
        </p:blipFill>
        <p:spPr>
          <a:xfrm>
            <a:off x="10415016" y="2148840"/>
            <a:ext cx="256032" cy="256032"/>
          </a:xfrm>
          <a:prstGeom prst="rect">
            <a:avLst/>
          </a:prstGeom>
        </p:spPr>
      </p:pic>
      <p:sp>
        <p:nvSpPr>
          <p:cNvPr id="81" name="Text 66"/>
          <p:cNvSpPr txBox="1"/>
          <p:nvPr/>
        </p:nvSpPr>
        <p:spPr>
          <a:xfrm>
            <a:off x="10415016" y="2450592"/>
            <a:ext cx="1143000" cy="256032"/>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Dashboard</a:t>
            </a:r>
            <a:endParaRPr lang="en-US" sz="1300" dirty="0"/>
          </a:p>
        </p:txBody>
      </p:sp>
      <p:sp>
        <p:nvSpPr>
          <p:cNvPr id="82" name="Text 67"/>
          <p:cNvSpPr txBox="1"/>
          <p:nvPr/>
        </p:nvSpPr>
        <p:spPr>
          <a:xfrm>
            <a:off x="10415016" y="2724912"/>
            <a:ext cx="1152144" cy="502920"/>
          </a:xfrm>
          <a:prstGeom prst="rect">
            <a:avLst/>
          </a:prstGeom>
          <a:noFill/>
          <a:ln/>
        </p:spPr>
        <p:txBody>
          <a:bodyPr wrap="square" lIns="0" tIns="0" rIns="0" bIns="0" rtlCol="0" anchor="t"/>
          <a:lstStyle/>
          <a:p>
            <a:pPr indent="0" marL="0">
              <a:buNone/>
            </a:pPr>
            <a:r>
              <a:rPr lang="en-US" sz="1000" dirty="0">
                <a:solidFill>
                  <a:srgbClr val="A3B0CF"/>
                </a:solidFill>
                <a:latin typeface="Inter" pitchFamily="34" charset="0"/>
                <a:ea typeface="Inter" pitchFamily="34" charset="-122"/>
                <a:cs typeface="Inter" pitchFamily="34" charset="-120"/>
              </a:rPr>
              <a:t>7 views incl. Identities, Timeline, Ledger</a:t>
            </a:r>
            <a:endParaRPr lang="en-US" sz="1000" dirty="0"/>
          </a:p>
        </p:txBody>
      </p:sp>
      <p:sp>
        <p:nvSpPr>
          <p:cNvPr id="83" name="Shape 68"/>
          <p:cNvSpPr/>
          <p:nvPr/>
        </p:nvSpPr>
        <p:spPr>
          <a:xfrm>
            <a:off x="10268712" y="3401568"/>
            <a:ext cx="1371600" cy="1261872"/>
          </a:xfrm>
          <a:prstGeom prst="roundRect">
            <a:avLst>
              <a:gd name="adj" fmla="val 7246"/>
            </a:avLst>
          </a:prstGeom>
          <a:solidFill>
            <a:srgbClr val="121A33"/>
          </a:solidFill>
          <a:ln w="9525">
            <a:solidFill>
              <a:srgbClr val="2A3563"/>
            </a:solidFill>
            <a:prstDash val="solid"/>
          </a:ln>
        </p:spPr>
      </p:sp>
      <p:pic>
        <p:nvPicPr>
          <p:cNvPr id="84" name="Image 13" descr="/home/claude/athar/img/download_c.png">    </p:cNvPr>
          <p:cNvPicPr>
            <a:picLocks noChangeAspect="1"/>
          </p:cNvPicPr>
          <p:nvPr/>
        </p:nvPicPr>
        <p:blipFill>
          <a:blip r:embed="rId15"/>
          <a:stretch>
            <a:fillRect/>
          </a:stretch>
        </p:blipFill>
        <p:spPr>
          <a:xfrm>
            <a:off x="10415016" y="3538728"/>
            <a:ext cx="256032" cy="256032"/>
          </a:xfrm>
          <a:prstGeom prst="rect">
            <a:avLst/>
          </a:prstGeom>
        </p:spPr>
      </p:pic>
      <p:sp>
        <p:nvSpPr>
          <p:cNvPr id="85" name="Text 69"/>
          <p:cNvSpPr txBox="1"/>
          <p:nvPr/>
        </p:nvSpPr>
        <p:spPr>
          <a:xfrm>
            <a:off x="10415016" y="3840480"/>
            <a:ext cx="1143000" cy="256032"/>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Exports</a:t>
            </a:r>
            <a:endParaRPr lang="en-US" sz="1300" dirty="0"/>
          </a:p>
        </p:txBody>
      </p:sp>
      <p:sp>
        <p:nvSpPr>
          <p:cNvPr id="86" name="Text 70"/>
          <p:cNvSpPr txBox="1"/>
          <p:nvPr/>
        </p:nvSpPr>
        <p:spPr>
          <a:xfrm>
            <a:off x="10415016" y="4114800"/>
            <a:ext cx="1152144" cy="502920"/>
          </a:xfrm>
          <a:prstGeom prst="rect">
            <a:avLst/>
          </a:prstGeom>
          <a:noFill/>
          <a:ln/>
        </p:spPr>
        <p:txBody>
          <a:bodyPr wrap="square" lIns="0" tIns="0" rIns="0" bIns="0" rtlCol="0" anchor="t"/>
          <a:lstStyle/>
          <a:p>
            <a:pPr indent="0" marL="0">
              <a:buNone/>
            </a:pPr>
            <a:r>
              <a:rPr lang="en-US" sz="1000" dirty="0">
                <a:solidFill>
                  <a:srgbClr val="A3B0CF"/>
                </a:solidFill>
                <a:latin typeface="Inter" pitchFamily="34" charset="0"/>
                <a:ea typeface="Inter" pitchFamily="34" charset="-122"/>
                <a:cs typeface="Inter" pitchFamily="34" charset="-120"/>
              </a:rPr>
              <a:t>CSV · JSON · PDF, each re-verifiable against the root</a:t>
            </a:r>
            <a:endParaRPr lang="en-US" sz="1000" dirty="0"/>
          </a:p>
        </p:txBody>
      </p:sp>
      <p:sp>
        <p:nvSpPr>
          <p:cNvPr id="87" name="Shape 71"/>
          <p:cNvSpPr/>
          <p:nvPr/>
        </p:nvSpPr>
        <p:spPr>
          <a:xfrm>
            <a:off x="548640" y="4983480"/>
            <a:ext cx="3566160" cy="1371600"/>
          </a:xfrm>
          <a:prstGeom prst="roundRect">
            <a:avLst>
              <a:gd name="adj" fmla="val 6667"/>
            </a:avLst>
          </a:prstGeom>
          <a:solidFill>
            <a:srgbClr val="10304A">
              <a:alpha val="70000"/>
            </a:srgbClr>
          </a:solidFill>
          <a:ln w="9525">
            <a:solidFill>
              <a:srgbClr val="2C6A86"/>
            </a:solidFill>
            <a:prstDash val="solid"/>
          </a:ln>
        </p:spPr>
      </p:sp>
      <p:sp>
        <p:nvSpPr>
          <p:cNvPr id="88" name="Shape 72"/>
          <p:cNvSpPr/>
          <p:nvPr/>
        </p:nvSpPr>
        <p:spPr>
          <a:xfrm>
            <a:off x="731520" y="5148072"/>
            <a:ext cx="402336" cy="402336"/>
          </a:xfrm>
          <a:prstGeom prst="ellipse">
            <a:avLst/>
          </a:prstGeom>
          <a:solidFill>
            <a:srgbClr val="10304A"/>
          </a:solidFill>
          <a:ln w="12700">
            <a:solidFill>
              <a:srgbClr val="10304A"/>
            </a:solidFill>
            <a:prstDash val="solid"/>
          </a:ln>
        </p:spPr>
      </p:sp>
      <p:pic>
        <p:nvPicPr>
          <p:cNvPr id="89" name="Image 14" descr="/home/claude/athar/img/scale_c.png">    </p:cNvPr>
          <p:cNvPicPr>
            <a:picLocks noChangeAspect="1"/>
          </p:cNvPicPr>
          <p:nvPr/>
        </p:nvPicPr>
        <p:blipFill>
          <a:blip r:embed="rId16"/>
          <a:stretch>
            <a:fillRect/>
          </a:stretch>
        </p:blipFill>
        <p:spPr>
          <a:xfrm>
            <a:off x="820034" y="5236586"/>
            <a:ext cx="225308" cy="225308"/>
          </a:xfrm>
          <a:prstGeom prst="rect">
            <a:avLst/>
          </a:prstGeom>
        </p:spPr>
      </p:pic>
      <p:sp>
        <p:nvSpPr>
          <p:cNvPr id="90" name="Text 73"/>
          <p:cNvSpPr txBox="1"/>
          <p:nvPr/>
        </p:nvSpPr>
        <p:spPr>
          <a:xfrm>
            <a:off x="1243584" y="5129784"/>
            <a:ext cx="2743200" cy="43891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The rules decide. The LLM only explains.</a:t>
            </a:r>
            <a:endParaRPr lang="en-US" sz="1300" dirty="0"/>
          </a:p>
        </p:txBody>
      </p:sp>
      <p:sp>
        <p:nvSpPr>
          <p:cNvPr id="91" name="Text 74"/>
          <p:cNvSpPr txBox="1"/>
          <p:nvPr/>
        </p:nvSpPr>
        <p:spPr>
          <a:xfrm>
            <a:off x="731520" y="5660136"/>
            <a:ext cx="3218688" cy="640080"/>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Severity, score and action are deterministic. Over ATHAR-MCP any AI can read and propose — never approve or apply. API roles enforce it.</a:t>
            </a:r>
            <a:endParaRPr lang="en-US" sz="1050" dirty="0"/>
          </a:p>
        </p:txBody>
      </p:sp>
      <p:sp>
        <p:nvSpPr>
          <p:cNvPr id="92" name="Shape 75"/>
          <p:cNvSpPr/>
          <p:nvPr/>
        </p:nvSpPr>
        <p:spPr>
          <a:xfrm>
            <a:off x="4311396" y="4983480"/>
            <a:ext cx="3566160" cy="1371600"/>
          </a:xfrm>
          <a:prstGeom prst="roundRect">
            <a:avLst>
              <a:gd name="adj" fmla="val 6667"/>
            </a:avLst>
          </a:prstGeom>
          <a:solidFill>
            <a:srgbClr val="10304A">
              <a:alpha val="70000"/>
            </a:srgbClr>
          </a:solidFill>
          <a:ln w="9525">
            <a:solidFill>
              <a:srgbClr val="2C6A86"/>
            </a:solidFill>
            <a:prstDash val="solid"/>
          </a:ln>
        </p:spPr>
      </p:sp>
      <p:sp>
        <p:nvSpPr>
          <p:cNvPr id="93" name="Shape 76"/>
          <p:cNvSpPr/>
          <p:nvPr/>
        </p:nvSpPr>
        <p:spPr>
          <a:xfrm>
            <a:off x="4494276" y="5148072"/>
            <a:ext cx="402336" cy="402336"/>
          </a:xfrm>
          <a:prstGeom prst="ellipse">
            <a:avLst/>
          </a:prstGeom>
          <a:solidFill>
            <a:srgbClr val="10304A"/>
          </a:solidFill>
          <a:ln w="12700">
            <a:solidFill>
              <a:srgbClr val="10304A"/>
            </a:solidFill>
            <a:prstDash val="solid"/>
          </a:ln>
        </p:spPr>
      </p:sp>
      <p:pic>
        <p:nvPicPr>
          <p:cNvPr id="94" name="Image 15" descr="/home/claude/athar/img/finger_c.png">    </p:cNvPr>
          <p:cNvPicPr>
            <a:picLocks noChangeAspect="1"/>
          </p:cNvPicPr>
          <p:nvPr/>
        </p:nvPicPr>
        <p:blipFill>
          <a:blip r:embed="rId17"/>
          <a:stretch>
            <a:fillRect/>
          </a:stretch>
        </p:blipFill>
        <p:spPr>
          <a:xfrm>
            <a:off x="4582790" y="5236586"/>
            <a:ext cx="225308" cy="225308"/>
          </a:xfrm>
          <a:prstGeom prst="rect">
            <a:avLst/>
          </a:prstGeom>
        </p:spPr>
      </p:pic>
      <p:sp>
        <p:nvSpPr>
          <p:cNvPr id="95" name="Text 77"/>
          <p:cNvSpPr txBox="1"/>
          <p:nvPr/>
        </p:nvSpPr>
        <p:spPr>
          <a:xfrm>
            <a:off x="5006340" y="5129784"/>
            <a:ext cx="2743200" cy="43891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Every scan and decision is anchored.</a:t>
            </a:r>
            <a:endParaRPr lang="en-US" sz="1300" dirty="0"/>
          </a:p>
        </p:txBody>
      </p:sp>
      <p:sp>
        <p:nvSpPr>
          <p:cNvPr id="96" name="Text 78"/>
          <p:cNvSpPr txBox="1"/>
          <p:nvPr/>
        </p:nvSpPr>
        <p:spPr>
          <a:xfrm>
            <a:off x="4494276" y="5660136"/>
            <a:ext cx="3218688" cy="640080"/>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Merkle roots on-chain let anyone recompute and verify. Edit one finding and the verification badge turns red.</a:t>
            </a:r>
            <a:endParaRPr lang="en-US" sz="1050" dirty="0"/>
          </a:p>
        </p:txBody>
      </p:sp>
      <p:sp>
        <p:nvSpPr>
          <p:cNvPr id="97" name="Shape 79"/>
          <p:cNvSpPr/>
          <p:nvPr/>
        </p:nvSpPr>
        <p:spPr>
          <a:xfrm>
            <a:off x="8074152" y="4983480"/>
            <a:ext cx="3566160" cy="1371600"/>
          </a:xfrm>
          <a:prstGeom prst="roundRect">
            <a:avLst>
              <a:gd name="adj" fmla="val 6667"/>
            </a:avLst>
          </a:prstGeom>
          <a:solidFill>
            <a:srgbClr val="121A33"/>
          </a:solidFill>
          <a:ln w="9525">
            <a:solidFill>
              <a:srgbClr val="2A3563"/>
            </a:solidFill>
            <a:prstDash val="solid"/>
          </a:ln>
        </p:spPr>
      </p:sp>
      <p:sp>
        <p:nvSpPr>
          <p:cNvPr id="98" name="Shape 80"/>
          <p:cNvSpPr/>
          <p:nvPr/>
        </p:nvSpPr>
        <p:spPr>
          <a:xfrm>
            <a:off x="8257032" y="5148072"/>
            <a:ext cx="402336" cy="402336"/>
          </a:xfrm>
          <a:prstGeom prst="ellipse">
            <a:avLst/>
          </a:prstGeom>
          <a:solidFill>
            <a:srgbClr val="1E1D4A"/>
          </a:solidFill>
          <a:ln w="12700">
            <a:solidFill>
              <a:srgbClr val="1E1D4A"/>
            </a:solidFill>
            <a:prstDash val="solid"/>
          </a:ln>
        </p:spPr>
      </p:sp>
      <p:pic>
        <p:nvPicPr>
          <p:cNvPr id="99" name="Image 16" descr="/home/claude/athar/img/terminal_v.png">    </p:cNvPr>
          <p:cNvPicPr>
            <a:picLocks noChangeAspect="1"/>
          </p:cNvPicPr>
          <p:nvPr/>
        </p:nvPicPr>
        <p:blipFill>
          <a:blip r:embed="rId18"/>
          <a:stretch>
            <a:fillRect/>
          </a:stretch>
        </p:blipFill>
        <p:spPr>
          <a:xfrm>
            <a:off x="8345546" y="5236586"/>
            <a:ext cx="225308" cy="225308"/>
          </a:xfrm>
          <a:prstGeom prst="rect">
            <a:avLst/>
          </a:prstGeom>
        </p:spPr>
      </p:pic>
      <p:sp>
        <p:nvSpPr>
          <p:cNvPr id="100" name="Text 81"/>
          <p:cNvSpPr txBox="1"/>
          <p:nvPr/>
        </p:nvSpPr>
        <p:spPr>
          <a:xfrm>
            <a:off x="8769096" y="5129784"/>
            <a:ext cx="2743200" cy="43891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Reproducible stack</a:t>
            </a:r>
            <a:endParaRPr lang="en-US" sz="1300" dirty="0"/>
          </a:p>
        </p:txBody>
      </p:sp>
      <p:sp>
        <p:nvSpPr>
          <p:cNvPr id="101" name="Text 82"/>
          <p:cNvSpPr txBox="1"/>
          <p:nvPr/>
        </p:nvSpPr>
        <p:spPr>
          <a:xfrm>
            <a:off x="8257032" y="5660136"/>
            <a:ext cx="3218688" cy="640080"/>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Python 3.12 · FastAPI · PostgreSQL · networkx · React 18 + TS · Solidity 0.8.24 + Foundry · web3.py · Docker Compose · 2 m 27 s to dashboard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04  ·  SOLUTION VALIDATION</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04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Attacked before it was submitted</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Every claim here was run, not asserted — including a pass over a real AWS IAM export.</a:t>
            </a:r>
            <a:endParaRPr lang="en-US" sz="1500" dirty="0"/>
          </a:p>
        </p:txBody>
      </p:sp>
      <p:sp>
        <p:nvSpPr>
          <p:cNvPr id="6" name="Shape 4"/>
          <p:cNvSpPr/>
          <p:nvPr/>
        </p:nvSpPr>
        <p:spPr>
          <a:xfrm>
            <a:off x="548640" y="1828800"/>
            <a:ext cx="3977640" cy="4526280"/>
          </a:xfrm>
          <a:prstGeom prst="roundRect">
            <a:avLst>
              <a:gd name="adj" fmla="val 2299"/>
            </a:avLst>
          </a:prstGeom>
          <a:solidFill>
            <a:srgbClr val="121A33"/>
          </a:solidFill>
          <a:ln w="9525">
            <a:solidFill>
              <a:srgbClr val="2A3563"/>
            </a:solidFill>
            <a:prstDash val="solid"/>
          </a:ln>
        </p:spPr>
      </p:sp>
      <p:sp>
        <p:nvSpPr>
          <p:cNvPr id="7" name="Text 5"/>
          <p:cNvSpPr txBox="1"/>
          <p:nvPr/>
        </p:nvSpPr>
        <p:spPr>
          <a:xfrm>
            <a:off x="777240" y="2011680"/>
            <a:ext cx="2743200" cy="237744"/>
          </a:xfrm>
          <a:prstGeom prst="rect">
            <a:avLst/>
          </a:prstGeom>
          <a:noFill/>
          <a:ln/>
        </p:spPr>
        <p:txBody>
          <a:bodyPr wrap="square" lIns="0" tIns="0" rIns="0" bIns="0" rtlCol="0" anchor="t"/>
          <a:lstStyle/>
          <a:p>
            <a:pPr indent="0" marL="0">
              <a:buNone/>
            </a:pPr>
            <a:r>
              <a:rPr lang="en-US" sz="1100" b="1" spc="300" kern="0" dirty="0">
                <a:solidFill>
                  <a:srgbClr val="55E6FF"/>
                </a:solidFill>
                <a:latin typeface="Inter" pitchFamily="34" charset="0"/>
                <a:ea typeface="Inter" pitchFamily="34" charset="-122"/>
                <a:cs typeface="Inter" pitchFamily="34" charset="-120"/>
              </a:rPr>
              <a:t>HOW WE TESTED</a:t>
            </a:r>
            <a:endParaRPr lang="en-US" sz="1100" dirty="0"/>
          </a:p>
        </p:txBody>
      </p:sp>
      <p:sp>
        <p:nvSpPr>
          <p:cNvPr id="8" name="Shape 6"/>
          <p:cNvSpPr/>
          <p:nvPr/>
        </p:nvSpPr>
        <p:spPr>
          <a:xfrm>
            <a:off x="749808" y="2395728"/>
            <a:ext cx="384048" cy="384048"/>
          </a:xfrm>
          <a:prstGeom prst="ellipse">
            <a:avLst/>
          </a:prstGeom>
          <a:solidFill>
            <a:srgbClr val="10304A"/>
          </a:solidFill>
          <a:ln w="12700">
            <a:solidFill>
              <a:srgbClr val="10304A"/>
            </a:solidFill>
            <a:prstDash val="solid"/>
          </a:ln>
        </p:spPr>
      </p:sp>
      <p:pic>
        <p:nvPicPr>
          <p:cNvPr id="9" name="Image 0" descr="/home/claude/athar/img/flask_c.png">    </p:cNvPr>
          <p:cNvPicPr>
            <a:picLocks noChangeAspect="1"/>
          </p:cNvPicPr>
          <p:nvPr/>
        </p:nvPicPr>
        <p:blipFill>
          <a:blip r:embed="rId2"/>
          <a:stretch>
            <a:fillRect/>
          </a:stretch>
        </p:blipFill>
        <p:spPr>
          <a:xfrm>
            <a:off x="834299" y="2480219"/>
            <a:ext cx="215067" cy="215067"/>
          </a:xfrm>
          <a:prstGeom prst="rect">
            <a:avLst/>
          </a:prstGeom>
        </p:spPr>
      </p:pic>
      <p:sp>
        <p:nvSpPr>
          <p:cNvPr id="10" name="Text 7"/>
          <p:cNvSpPr txBox="1"/>
          <p:nvPr/>
        </p:nvSpPr>
        <p:spPr>
          <a:xfrm>
            <a:off x="1280160" y="2377440"/>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1,859 · 167 · 21 automated tests</a:t>
            </a:r>
            <a:endParaRPr lang="en-US" sz="1300" dirty="0"/>
          </a:p>
        </p:txBody>
      </p:sp>
      <p:sp>
        <p:nvSpPr>
          <p:cNvPr id="11" name="Text 8"/>
          <p:cNvSpPr txBox="1"/>
          <p:nvPr/>
        </p:nvSpPr>
        <p:spPr>
          <a:xfrm>
            <a:off x="1280160" y="2624328"/>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Backend · frontend · smart-contract suites</a:t>
            </a:r>
            <a:endParaRPr lang="en-US" sz="1050" dirty="0"/>
          </a:p>
        </p:txBody>
      </p:sp>
      <p:sp>
        <p:nvSpPr>
          <p:cNvPr id="12" name="Shape 9"/>
          <p:cNvSpPr/>
          <p:nvPr/>
        </p:nvSpPr>
        <p:spPr>
          <a:xfrm>
            <a:off x="749808" y="3049524"/>
            <a:ext cx="384048" cy="384048"/>
          </a:xfrm>
          <a:prstGeom prst="ellipse">
            <a:avLst/>
          </a:prstGeom>
          <a:solidFill>
            <a:srgbClr val="10304A"/>
          </a:solidFill>
          <a:ln w="12700">
            <a:solidFill>
              <a:srgbClr val="10304A"/>
            </a:solidFill>
            <a:prstDash val="solid"/>
          </a:ln>
        </p:spPr>
      </p:sp>
      <p:pic>
        <p:nvPicPr>
          <p:cNvPr id="13" name="Image 1" descr="/home/claude/athar/img/blocks_c.png">    </p:cNvPr>
          <p:cNvPicPr>
            <a:picLocks noChangeAspect="1"/>
          </p:cNvPicPr>
          <p:nvPr/>
        </p:nvPicPr>
        <p:blipFill>
          <a:blip r:embed="rId3"/>
          <a:stretch>
            <a:fillRect/>
          </a:stretch>
        </p:blipFill>
        <p:spPr>
          <a:xfrm>
            <a:off x="834299" y="3134015"/>
            <a:ext cx="215067" cy="215067"/>
          </a:xfrm>
          <a:prstGeom prst="rect">
            <a:avLst/>
          </a:prstGeom>
        </p:spPr>
      </p:pic>
      <p:sp>
        <p:nvSpPr>
          <p:cNvPr id="14" name="Text 10"/>
          <p:cNvSpPr txBox="1"/>
          <p:nvPr/>
        </p:nvSpPr>
        <p:spPr>
          <a:xfrm>
            <a:off x="1280160" y="3031236"/>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Contract fuzzing + proof check</a:t>
            </a:r>
            <a:endParaRPr lang="en-US" sz="1300" dirty="0"/>
          </a:p>
        </p:txBody>
      </p:sp>
      <p:sp>
        <p:nvSpPr>
          <p:cNvPr id="15" name="Text 11"/>
          <p:cNvSpPr txBox="1"/>
          <p:nvPr/>
        </p:nvSpPr>
        <p:spPr>
          <a:xfrm>
            <a:off x="1280160" y="3278124"/>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256 Foundry fuzz runs; a 7-node Merkle proof verified by the contract</a:t>
            </a:r>
            <a:endParaRPr lang="en-US" sz="1050" dirty="0"/>
          </a:p>
        </p:txBody>
      </p:sp>
      <p:sp>
        <p:nvSpPr>
          <p:cNvPr id="16" name="Shape 12"/>
          <p:cNvSpPr/>
          <p:nvPr/>
        </p:nvSpPr>
        <p:spPr>
          <a:xfrm>
            <a:off x="749808" y="3703320"/>
            <a:ext cx="384048" cy="384048"/>
          </a:xfrm>
          <a:prstGeom prst="ellipse">
            <a:avLst/>
          </a:prstGeom>
          <a:solidFill>
            <a:srgbClr val="10304A"/>
          </a:solidFill>
          <a:ln w="12700">
            <a:solidFill>
              <a:srgbClr val="10304A"/>
            </a:solidFill>
            <a:prstDash val="solid"/>
          </a:ln>
        </p:spPr>
      </p:sp>
      <p:pic>
        <p:nvPicPr>
          <p:cNvPr id="17" name="Image 2" descr="/home/claude/athar/img/alert_c.png">    </p:cNvPr>
          <p:cNvPicPr>
            <a:picLocks noChangeAspect="1"/>
          </p:cNvPicPr>
          <p:nvPr/>
        </p:nvPicPr>
        <p:blipFill>
          <a:blip r:embed="rId4"/>
          <a:stretch>
            <a:fillRect/>
          </a:stretch>
        </p:blipFill>
        <p:spPr>
          <a:xfrm>
            <a:off x="834299" y="3787811"/>
            <a:ext cx="215067" cy="215067"/>
          </a:xfrm>
          <a:prstGeom prst="rect">
            <a:avLst/>
          </a:prstGeom>
        </p:spPr>
      </p:pic>
      <p:sp>
        <p:nvSpPr>
          <p:cNvPr id="18" name="Text 13"/>
          <p:cNvSpPr txBox="1"/>
          <p:nvPr/>
        </p:nvSpPr>
        <p:spPr>
          <a:xfrm>
            <a:off x="1280160" y="3685032"/>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61 robustness fixtures</a:t>
            </a:r>
            <a:endParaRPr lang="en-US" sz="1300" dirty="0"/>
          </a:p>
        </p:txBody>
      </p:sp>
      <p:sp>
        <p:nvSpPr>
          <p:cNvPr id="19" name="Text 14"/>
          <p:cNvSpPr txBox="1"/>
          <p:nvPr/>
        </p:nvSpPr>
        <p:spPr>
          <a:xfrm>
            <a:off x="1280160" y="3931920"/>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Malformed, non-UTF-8, wrong-provider and unknown-action inputs</a:t>
            </a:r>
            <a:endParaRPr lang="en-US" sz="1050" dirty="0"/>
          </a:p>
        </p:txBody>
      </p:sp>
      <p:sp>
        <p:nvSpPr>
          <p:cNvPr id="20" name="Shape 15"/>
          <p:cNvSpPr/>
          <p:nvPr/>
        </p:nvSpPr>
        <p:spPr>
          <a:xfrm>
            <a:off x="749808" y="4357116"/>
            <a:ext cx="384048" cy="384048"/>
          </a:xfrm>
          <a:prstGeom prst="ellipse">
            <a:avLst/>
          </a:prstGeom>
          <a:solidFill>
            <a:srgbClr val="1E1D4A"/>
          </a:solidFill>
          <a:ln w="12700">
            <a:solidFill>
              <a:srgbClr val="1E1D4A"/>
            </a:solidFill>
            <a:prstDash val="solid"/>
          </a:ln>
        </p:spPr>
      </p:sp>
      <p:pic>
        <p:nvPicPr>
          <p:cNvPr id="21" name="Image 3" descr="/home/claude/athar/img/users_v.png">    </p:cNvPr>
          <p:cNvPicPr>
            <a:picLocks noChangeAspect="1"/>
          </p:cNvPicPr>
          <p:nvPr/>
        </p:nvPicPr>
        <p:blipFill>
          <a:blip r:embed="rId5"/>
          <a:stretch>
            <a:fillRect/>
          </a:stretch>
        </p:blipFill>
        <p:spPr>
          <a:xfrm>
            <a:off x="834299" y="4441607"/>
            <a:ext cx="215067" cy="215067"/>
          </a:xfrm>
          <a:prstGeom prst="rect">
            <a:avLst/>
          </a:prstGeom>
        </p:spPr>
      </p:pic>
      <p:sp>
        <p:nvSpPr>
          <p:cNvPr id="22" name="Text 16"/>
          <p:cNvSpPr txBox="1"/>
          <p:nvPr/>
        </p:nvSpPr>
        <p:spPr>
          <a:xfrm>
            <a:off x="1280160" y="4338828"/>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11 adversarial decoys</a:t>
            </a:r>
            <a:endParaRPr lang="en-US" sz="1300" dirty="0"/>
          </a:p>
        </p:txBody>
      </p:sp>
      <p:sp>
        <p:nvSpPr>
          <p:cNvPr id="23" name="Text 17"/>
          <p:cNvSpPr txBox="1"/>
          <p:nvPr/>
        </p:nvSpPr>
        <p:spPr>
          <a:xfrm>
            <a:off x="1280160" y="4585716"/>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Look risky, legitimate via a register entry — tests judgment</a:t>
            </a:r>
            <a:endParaRPr lang="en-US" sz="1050" dirty="0"/>
          </a:p>
        </p:txBody>
      </p:sp>
      <p:sp>
        <p:nvSpPr>
          <p:cNvPr id="24" name="Shape 18"/>
          <p:cNvSpPr/>
          <p:nvPr/>
        </p:nvSpPr>
        <p:spPr>
          <a:xfrm>
            <a:off x="749808" y="5010912"/>
            <a:ext cx="384048" cy="384048"/>
          </a:xfrm>
          <a:prstGeom prst="ellipse">
            <a:avLst/>
          </a:prstGeom>
          <a:solidFill>
            <a:srgbClr val="10304A"/>
          </a:solidFill>
          <a:ln w="12700">
            <a:solidFill>
              <a:srgbClr val="10304A"/>
            </a:solidFill>
            <a:prstDash val="solid"/>
          </a:ln>
        </p:spPr>
      </p:sp>
      <p:pic>
        <p:nvPicPr>
          <p:cNvPr id="25" name="Image 4" descr="/home/claude/athar/img/shield_c.png">    </p:cNvPr>
          <p:cNvPicPr>
            <a:picLocks noChangeAspect="1"/>
          </p:cNvPicPr>
          <p:nvPr/>
        </p:nvPicPr>
        <p:blipFill>
          <a:blip r:embed="rId6"/>
          <a:stretch>
            <a:fillRect/>
          </a:stretch>
        </p:blipFill>
        <p:spPr>
          <a:xfrm>
            <a:off x="834299" y="5095403"/>
            <a:ext cx="215067" cy="215067"/>
          </a:xfrm>
          <a:prstGeom prst="rect">
            <a:avLst/>
          </a:prstGeom>
        </p:spPr>
      </p:pic>
      <p:sp>
        <p:nvSpPr>
          <p:cNvPr id="26" name="Text 19"/>
          <p:cNvSpPr txBox="1"/>
          <p:nvPr/>
        </p:nvSpPr>
        <p:spPr>
          <a:xfrm>
            <a:off x="1280160" y="4992624"/>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2 rounds of adversarial review</a:t>
            </a:r>
            <a:endParaRPr lang="en-US" sz="1300" dirty="0"/>
          </a:p>
        </p:txBody>
      </p:sp>
      <p:sp>
        <p:nvSpPr>
          <p:cNvPr id="27" name="Text 20"/>
          <p:cNvSpPr txBox="1"/>
          <p:nvPr/>
        </p:nvSpPr>
        <p:spPr>
          <a:xfrm>
            <a:off x="1280160" y="5239512"/>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5 real flaws found and fixed, incl. an open redirect and a double-commit</a:t>
            </a:r>
            <a:endParaRPr lang="en-US" sz="1050" dirty="0"/>
          </a:p>
        </p:txBody>
      </p:sp>
      <p:sp>
        <p:nvSpPr>
          <p:cNvPr id="28" name="Shape 21"/>
          <p:cNvSpPr/>
          <p:nvPr/>
        </p:nvSpPr>
        <p:spPr>
          <a:xfrm>
            <a:off x="749808" y="5664708"/>
            <a:ext cx="384048" cy="384048"/>
          </a:xfrm>
          <a:prstGeom prst="ellipse">
            <a:avLst/>
          </a:prstGeom>
          <a:solidFill>
            <a:srgbClr val="10304A"/>
          </a:solidFill>
          <a:ln w="12700">
            <a:solidFill>
              <a:srgbClr val="10304A"/>
            </a:solidFill>
            <a:prstDash val="solid"/>
          </a:ln>
        </p:spPr>
      </p:sp>
      <p:pic>
        <p:nvPicPr>
          <p:cNvPr id="29" name="Image 5" descr="/home/claude/athar/img/terminal_c.png">    </p:cNvPr>
          <p:cNvPicPr>
            <a:picLocks noChangeAspect="1"/>
          </p:cNvPicPr>
          <p:nvPr/>
        </p:nvPicPr>
        <p:blipFill>
          <a:blip r:embed="rId7"/>
          <a:stretch>
            <a:fillRect/>
          </a:stretch>
        </p:blipFill>
        <p:spPr>
          <a:xfrm>
            <a:off x="834299" y="5749199"/>
            <a:ext cx="215067" cy="215067"/>
          </a:xfrm>
          <a:prstGeom prst="rect">
            <a:avLst/>
          </a:prstGeom>
        </p:spPr>
      </p:pic>
      <p:sp>
        <p:nvSpPr>
          <p:cNvPr id="30" name="Text 22"/>
          <p:cNvSpPr txBox="1"/>
          <p:nvPr/>
        </p:nvSpPr>
        <p:spPr>
          <a:xfrm>
            <a:off x="1280160" y="5646420"/>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2 m 27 s, clean machine → dashboard</a:t>
            </a:r>
            <a:endParaRPr lang="en-US" sz="1300" dirty="0"/>
          </a:p>
        </p:txBody>
      </p:sp>
      <p:sp>
        <p:nvSpPr>
          <p:cNvPr id="31" name="Text 23"/>
          <p:cNvSpPr txBox="1"/>
          <p:nvPr/>
        </p:nvSpPr>
        <p:spPr>
          <a:xfrm>
            <a:off x="1280160" y="5893308"/>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Docker + make only; make ci reruns lint, tests, audits, gitleaks</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00600" y="1828800"/>
          <a:ext cx="6839712" cy="914400"/>
        </p:xfrm>
        <a:graphic>
          <a:graphicData uri="http://schemas.openxmlformats.org/drawingml/2006/table">
            <a:tbl>
              <a:tblPr/>
              <a:tblGrid>
                <a:gridCol w="2514600"/>
                <a:gridCol w="4325112"/>
              </a:tblGrid>
              <a:tr h="310896">
                <a:tc>
                  <a:txBody>
                    <a:bodyPr/>
                    <a:lstStyle/>
                    <a:p>
                      <a:pPr indent="0" marL="0">
                        <a:buNone/>
                      </a:pPr>
                      <a:r>
                        <a:rPr lang="en-US" sz="1050" b="1" spc="200" kern="0" dirty="0">
                          <a:solidFill>
                            <a:srgbClr val="A3B0CF"/>
                          </a:solidFill>
                          <a:latin typeface="Inter" pitchFamily="34" charset="0"/>
                          <a:ea typeface="Inter" pitchFamily="34" charset="-122"/>
                          <a:cs typeface="Inter" pitchFamily="34" charset="-120"/>
                        </a:rPr>
                        <a:t>WE ATTACKED IT</a:t>
                      </a:r>
                      <a:endParaRPr lang="en-US" sz="10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c>
                  <a:txBody>
                    <a:bodyPr/>
                    <a:lstStyle/>
                    <a:p>
                      <a:pPr indent="0" marL="0">
                        <a:buNone/>
                      </a:pPr>
                      <a:r>
                        <a:rPr lang="en-US" sz="1050" b="1" spc="200" kern="0" dirty="0">
                          <a:solidFill>
                            <a:srgbClr val="55E6FF"/>
                          </a:solidFill>
                          <a:latin typeface="Inter" pitchFamily="34" charset="0"/>
                          <a:ea typeface="Inter" pitchFamily="34" charset="-122"/>
                          <a:cs typeface="Inter" pitchFamily="34" charset="-120"/>
                        </a:rPr>
                        <a:t>WHAT HAPPENED</a:t>
                      </a:r>
                      <a:endParaRPr lang="en-US" sz="10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Edited a stored severity</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Caught.  </a:t>
                      </a:r>
                      <a:pPr indent="0" marL="0">
                        <a:buNone/>
                      </a:pPr>
                      <a:r>
                        <a:rPr lang="en-US" sz="1150" dirty="0">
                          <a:solidFill>
                            <a:srgbClr val="A3B0CF"/>
                          </a:solidFill>
                          <a:latin typeface="Inter" pitchFamily="34" charset="0"/>
                          <a:ea typeface="Inter" pitchFamily="34" charset="-122"/>
                          <a:cs typeface="Inter" pitchFamily="34" charset="-120"/>
                        </a:rPr>
                        <a:t>Verification fails; badge turns red</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LLM proposed unseen grants</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Rejected.  </a:t>
                      </a:r>
                      <a:pPr indent="0" marL="0">
                        <a:buNone/>
                      </a:pPr>
                      <a:r>
                        <a:rPr lang="en-US" sz="1150" dirty="0">
                          <a:solidFill>
                            <a:srgbClr val="A3B0CF"/>
                          </a:solidFill>
                          <a:latin typeface="Inter" pitchFamily="34" charset="0"/>
                          <a:ea typeface="Inter" pitchFamily="34" charset="-122"/>
                          <a:cs typeface="Inter" pitchFamily="34" charset="-120"/>
                        </a:rPr>
                        <a:t>4 named violations; root byte-identical</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Fed broken input files</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Handled.  </a:t>
                      </a:r>
                      <a:pPr indent="0" marL="0">
                        <a:buNone/>
                      </a:pPr>
                      <a:r>
                        <a:rPr lang="en-US" sz="1150" dirty="0">
                          <a:solidFill>
                            <a:srgbClr val="A3B0CF"/>
                          </a:solidFill>
                          <a:latin typeface="Inter" pitchFamily="34" charset="0"/>
                          <a:ea typeface="Inter" pitchFamily="34" charset="-122"/>
                          <a:cs typeface="Inter" pitchFamily="34" charset="-120"/>
                        </a:rPr>
                        <a:t>Structured error, no stack trace</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Ran make demo twice</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Idempotent.  </a:t>
                      </a:r>
                      <a:pPr indent="0" marL="0">
                        <a:buNone/>
                      </a:pPr>
                      <a:r>
                        <a:rPr lang="en-US" sz="1150" dirty="0">
                          <a:solidFill>
                            <a:srgbClr val="A3B0CF"/>
                          </a:solidFill>
                          <a:latin typeface="Inter" pitchFamily="34" charset="0"/>
                          <a:ea typeface="Inter" pitchFamily="34" charset="-122"/>
                          <a:cs typeface="Inter" pitchFamily="34" charset="-120"/>
                        </a:rPr>
                        <a:t>12× “already anchored”, no duplicates</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bl>
          </a:graphicData>
        </a:graphic>
      </p:graphicFrame>
      <p:sp>
        <p:nvSpPr>
          <p:cNvPr id="33" name="Shape 24"/>
          <p:cNvSpPr/>
          <p:nvPr/>
        </p:nvSpPr>
        <p:spPr>
          <a:xfrm>
            <a:off x="4800600" y="3840480"/>
            <a:ext cx="6839712" cy="960120"/>
          </a:xfrm>
          <a:prstGeom prst="roundRect">
            <a:avLst>
              <a:gd name="adj" fmla="val 9524"/>
            </a:avLst>
          </a:prstGeom>
          <a:solidFill>
            <a:srgbClr val="10304A">
              <a:alpha val="70000"/>
            </a:srgbClr>
          </a:solidFill>
          <a:ln w="9525">
            <a:solidFill>
              <a:srgbClr val="2C6A86"/>
            </a:solidFill>
            <a:prstDash val="solid"/>
          </a:ln>
        </p:spPr>
      </p:sp>
      <p:sp>
        <p:nvSpPr>
          <p:cNvPr id="34" name="Text 25"/>
          <p:cNvSpPr txBox="1"/>
          <p:nvPr/>
        </p:nvSpPr>
        <p:spPr>
          <a:xfrm>
            <a:off x="5029200" y="4005072"/>
            <a:ext cx="2560320" cy="219456"/>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MEASURED REMEDIATION</a:t>
            </a:r>
            <a:endParaRPr lang="en-US" sz="1050" dirty="0"/>
          </a:p>
        </p:txBody>
      </p:sp>
      <p:sp>
        <p:nvSpPr>
          <p:cNvPr id="35" name="Text 26"/>
          <p:cNvSpPr txBox="1"/>
          <p:nvPr/>
        </p:nvSpPr>
        <p:spPr>
          <a:xfrm>
            <a:off x="5029200" y="4206240"/>
            <a:ext cx="2240280" cy="548640"/>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Departed engineer: plan approved by a second account, applied, re-scanned</a:t>
            </a:r>
            <a:endParaRPr lang="en-US" sz="1100" dirty="0"/>
          </a:p>
        </p:txBody>
      </p:sp>
      <p:sp>
        <p:nvSpPr>
          <p:cNvPr id="36" name="Text 27"/>
          <p:cNvSpPr txBox="1"/>
          <p:nvPr/>
        </p:nvSpPr>
        <p:spPr>
          <a:xfrm>
            <a:off x="7498080" y="3931920"/>
            <a:ext cx="1600200" cy="475488"/>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100 </a:t>
            </a:r>
            <a:pPr indent="0" marL="0">
              <a:buNone/>
            </a:pPr>
            <a:r>
              <a:rPr lang="en-US" sz="2400" b="1" dirty="0">
                <a:solidFill>
                  <a:srgbClr val="7382A6"/>
                </a:solidFill>
                <a:latin typeface="Inter" pitchFamily="34" charset="0"/>
                <a:ea typeface="Inter" pitchFamily="34" charset="-122"/>
                <a:cs typeface="Inter" pitchFamily="34" charset="-120"/>
              </a:rPr>
              <a:t>→ </a:t>
            </a:r>
            <a:pPr indent="0" marL="0">
              <a:buNone/>
            </a:pPr>
            <a:r>
              <a:rPr lang="en-US" sz="2400" b="1" dirty="0">
                <a:solidFill>
                  <a:srgbClr val="55E6FF"/>
                </a:solidFill>
                <a:latin typeface="Inter" pitchFamily="34" charset="0"/>
                <a:ea typeface="Inter" pitchFamily="34" charset="-122"/>
                <a:cs typeface="Inter" pitchFamily="34" charset="-120"/>
              </a:rPr>
              <a:t>0</a:t>
            </a:r>
            <a:endParaRPr lang="en-US" sz="2400" dirty="0"/>
          </a:p>
        </p:txBody>
      </p:sp>
      <p:sp>
        <p:nvSpPr>
          <p:cNvPr id="37" name="Text 28"/>
          <p:cNvSpPr txBox="1"/>
          <p:nvPr/>
        </p:nvSpPr>
        <p:spPr>
          <a:xfrm>
            <a:off x="7498080" y="4425696"/>
            <a:ext cx="1600200" cy="256032"/>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Risk score</a:t>
            </a:r>
            <a:endParaRPr lang="en-US" sz="1100" dirty="0"/>
          </a:p>
        </p:txBody>
      </p:sp>
      <p:sp>
        <p:nvSpPr>
          <p:cNvPr id="38" name="Text 29"/>
          <p:cNvSpPr txBox="1"/>
          <p:nvPr/>
        </p:nvSpPr>
        <p:spPr>
          <a:xfrm>
            <a:off x="9189720" y="3931920"/>
            <a:ext cx="2377440" cy="475488"/>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69.3% </a:t>
            </a:r>
            <a:pPr indent="0" marL="0">
              <a:buNone/>
            </a:pPr>
            <a:r>
              <a:rPr lang="en-US" sz="2400" b="1" dirty="0">
                <a:solidFill>
                  <a:srgbClr val="7382A6"/>
                </a:solidFill>
                <a:latin typeface="Inter" pitchFamily="34" charset="0"/>
                <a:ea typeface="Inter" pitchFamily="34" charset="-122"/>
                <a:cs typeface="Inter" pitchFamily="34" charset="-120"/>
              </a:rPr>
              <a:t>→ </a:t>
            </a:r>
            <a:pPr indent="0" marL="0">
              <a:buNone/>
            </a:pPr>
            <a:r>
              <a:rPr lang="en-US" sz="2400" b="1" dirty="0">
                <a:solidFill>
                  <a:srgbClr val="55E6FF"/>
                </a:solidFill>
                <a:latin typeface="Inter" pitchFamily="34" charset="0"/>
                <a:ea typeface="Inter" pitchFamily="34" charset="-122"/>
                <a:cs typeface="Inter" pitchFamily="34" charset="-120"/>
              </a:rPr>
              <a:t>0.0%</a:t>
            </a:r>
            <a:endParaRPr lang="en-US" sz="2400" dirty="0"/>
          </a:p>
        </p:txBody>
      </p:sp>
      <p:sp>
        <p:nvSpPr>
          <p:cNvPr id="39" name="Text 30"/>
          <p:cNvSpPr txBox="1"/>
          <p:nvPr/>
        </p:nvSpPr>
        <p:spPr>
          <a:xfrm>
            <a:off x="9189720" y="4425696"/>
            <a:ext cx="2377440" cy="256032"/>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Blast radius</a:t>
            </a:r>
            <a:endParaRPr lang="en-US" sz="1100" dirty="0"/>
          </a:p>
        </p:txBody>
      </p:sp>
      <p:sp>
        <p:nvSpPr>
          <p:cNvPr id="40" name="Shape 31"/>
          <p:cNvSpPr/>
          <p:nvPr/>
        </p:nvSpPr>
        <p:spPr>
          <a:xfrm>
            <a:off x="4800600" y="4965192"/>
            <a:ext cx="6839712" cy="1389888"/>
          </a:xfrm>
          <a:prstGeom prst="roundRect">
            <a:avLst>
              <a:gd name="adj" fmla="val 6579"/>
            </a:avLst>
          </a:prstGeom>
          <a:solidFill>
            <a:srgbClr val="121A33"/>
          </a:solidFill>
          <a:ln w="9525">
            <a:solidFill>
              <a:srgbClr val="6B3350"/>
            </a:solidFill>
            <a:prstDash val="solid"/>
          </a:ln>
        </p:spPr>
      </p:sp>
      <p:pic>
        <p:nvPicPr>
          <p:cNvPr id="41" name="Image 6" descr="/home/claude/athar/img/alert_r.png">    </p:cNvPr>
          <p:cNvPicPr>
            <a:picLocks noChangeAspect="1"/>
          </p:cNvPicPr>
          <p:nvPr/>
        </p:nvPicPr>
        <p:blipFill>
          <a:blip r:embed="rId8"/>
          <a:stretch>
            <a:fillRect/>
          </a:stretch>
        </p:blipFill>
        <p:spPr>
          <a:xfrm>
            <a:off x="5029200" y="5111496"/>
            <a:ext cx="219456" cy="219456"/>
          </a:xfrm>
          <a:prstGeom prst="rect">
            <a:avLst/>
          </a:prstGeom>
        </p:spPr>
      </p:pic>
      <p:sp>
        <p:nvSpPr>
          <p:cNvPr id="42" name="Text 32"/>
          <p:cNvSpPr txBox="1"/>
          <p:nvPr/>
        </p:nvSpPr>
        <p:spPr>
          <a:xfrm>
            <a:off x="5330952" y="5102352"/>
            <a:ext cx="5486400" cy="237744"/>
          </a:xfrm>
          <a:prstGeom prst="rect">
            <a:avLst/>
          </a:prstGeom>
          <a:noFill/>
          <a:ln/>
        </p:spPr>
        <p:txBody>
          <a:bodyPr wrap="square" lIns="0" tIns="0" rIns="0" bIns="0" rtlCol="0" anchor="ctr"/>
          <a:lstStyle/>
          <a:p>
            <a:pPr indent="0" marL="0">
              <a:buNone/>
            </a:pPr>
            <a:r>
              <a:rPr lang="en-US" sz="1050" b="1" spc="200" kern="0" dirty="0">
                <a:solidFill>
                  <a:srgbClr val="FF8A9B"/>
                </a:solidFill>
                <a:latin typeface="Inter" pitchFamily="34" charset="0"/>
                <a:ea typeface="Inter" pitchFamily="34" charset="-122"/>
                <a:cs typeface="Inter" pitchFamily="34" charset="-120"/>
              </a:rPr>
              <a:t>WHAT THIS DOES NOT PROVE — DOCUMENTED LIMITATIONS</a:t>
            </a:r>
            <a:endParaRPr lang="en-US" sz="1050" dirty="0"/>
          </a:p>
        </p:txBody>
      </p:sp>
      <p:sp>
        <p:nvSpPr>
          <p:cNvPr id="43" name="Text 33"/>
          <p:cNvSpPr txBox="1"/>
          <p:nvPr/>
        </p:nvSpPr>
        <p:spPr>
          <a:xfrm>
            <a:off x="5029200" y="54223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Ledger ≠ correctness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Proves a finding wasn’t edited — not that it’s right.</a:t>
            </a:r>
            <a:endParaRPr lang="en-US" sz="1100" dirty="0"/>
          </a:p>
        </p:txBody>
      </p:sp>
      <p:sp>
        <p:nvSpPr>
          <p:cNvPr id="44" name="Text 34"/>
          <p:cNvSpPr txBox="1"/>
          <p:nvPr/>
        </p:nvSpPr>
        <p:spPr>
          <a:xfrm>
            <a:off x="8357616" y="54223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Single-host writer key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Production path: HSM keys + per-approver wallets.</a:t>
            </a:r>
            <a:endParaRPr lang="en-US" sz="1100" dirty="0"/>
          </a:p>
        </p:txBody>
      </p:sp>
      <p:sp>
        <p:nvSpPr>
          <p:cNvPr id="45" name="Text 35"/>
          <p:cNvSpPr txBox="1"/>
          <p:nvPr/>
        </p:nvSpPr>
        <p:spPr>
          <a:xfrm>
            <a:off x="5029200" y="58795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R7 peer-outlier now fires on real data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36 hits on a real AWS export.</a:t>
            </a:r>
            <a:endParaRPr lang="en-US" sz="1100" dirty="0"/>
          </a:p>
        </p:txBody>
      </p:sp>
      <p:sp>
        <p:nvSpPr>
          <p:cNvPr id="46" name="Text 36"/>
          <p:cNvSpPr txBox="1"/>
          <p:nvPr/>
        </p:nvSpPr>
        <p:spPr>
          <a:xfrm>
            <a:off x="8357616" y="58795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Simulated apply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No provider SDK yet; production opens an IaC pull request.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05  ·  RESULTS &amp; CONCLUSIONS</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05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A cross-cloud answer you can verify</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Synthetic demo estate at month 12 · fictional customer “Nahar Digital Authority” · plus a real AWS IAM export</a:t>
            </a:r>
            <a:endParaRPr lang="en-US" sz="1500" dirty="0"/>
          </a:p>
        </p:txBody>
      </p:sp>
      <p:sp>
        <p:nvSpPr>
          <p:cNvPr id="6" name="Shape 4"/>
          <p:cNvSpPr/>
          <p:nvPr/>
        </p:nvSpPr>
        <p:spPr>
          <a:xfrm>
            <a:off x="548640" y="1828800"/>
            <a:ext cx="2587752" cy="1097280"/>
          </a:xfrm>
          <a:prstGeom prst="roundRect">
            <a:avLst>
              <a:gd name="adj" fmla="val 8333"/>
            </a:avLst>
          </a:prstGeom>
          <a:solidFill>
            <a:srgbClr val="121A33"/>
          </a:solidFill>
          <a:ln w="9525">
            <a:solidFill>
              <a:srgbClr val="2A3563"/>
            </a:solidFill>
            <a:prstDash val="solid"/>
          </a:ln>
        </p:spPr>
      </p:sp>
      <p:sp>
        <p:nvSpPr>
          <p:cNvPr id="7" name="Text 5"/>
          <p:cNvSpPr txBox="1"/>
          <p:nvPr/>
        </p:nvSpPr>
        <p:spPr>
          <a:xfrm>
            <a:off x="749808" y="1920240"/>
            <a:ext cx="2313432" cy="530352"/>
          </a:xfrm>
          <a:prstGeom prst="rect">
            <a:avLst/>
          </a:prstGeom>
          <a:noFill/>
          <a:ln/>
        </p:spPr>
        <p:txBody>
          <a:bodyPr wrap="square" lIns="0" tIns="0" rIns="0" bIns="0" rtlCol="0" anchor="ctr"/>
          <a:lstStyle/>
          <a:p>
            <a:pPr indent="0" marL="0">
              <a:buNone/>
            </a:pPr>
            <a:r>
              <a:rPr lang="en-US" sz="3200" b="1" dirty="0">
                <a:solidFill>
                  <a:srgbClr val="55E6FF"/>
                </a:solidFill>
                <a:latin typeface="Inter" pitchFamily="34" charset="0"/>
                <a:ea typeface="Inter" pitchFamily="34" charset="-122"/>
                <a:cs typeface="Inter" pitchFamily="34" charset="-120"/>
              </a:rPr>
              <a:t>507</a:t>
            </a:r>
            <a:endParaRPr lang="en-US" sz="3200" dirty="0"/>
          </a:p>
        </p:txBody>
      </p:sp>
      <p:sp>
        <p:nvSpPr>
          <p:cNvPr id="8" name="Text 6"/>
          <p:cNvSpPr txBox="1"/>
          <p:nvPr/>
        </p:nvSpPr>
        <p:spPr>
          <a:xfrm>
            <a:off x="74980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identities</a:t>
            </a:r>
            <a:endParaRPr lang="en-US" sz="1200" dirty="0"/>
          </a:p>
        </p:txBody>
      </p:sp>
      <p:sp>
        <p:nvSpPr>
          <p:cNvPr id="9" name="Text 7"/>
          <p:cNvSpPr txBox="1"/>
          <p:nvPr/>
        </p:nvSpPr>
        <p:spPr>
          <a:xfrm>
            <a:off x="74980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382 people · 125 service accounts</a:t>
            </a:r>
            <a:endParaRPr lang="en-US" sz="950" dirty="0"/>
          </a:p>
        </p:txBody>
      </p:sp>
      <p:sp>
        <p:nvSpPr>
          <p:cNvPr id="10" name="Shape 8"/>
          <p:cNvSpPr/>
          <p:nvPr/>
        </p:nvSpPr>
        <p:spPr>
          <a:xfrm>
            <a:off x="3383280" y="1828800"/>
            <a:ext cx="2587752" cy="1097280"/>
          </a:xfrm>
          <a:prstGeom prst="roundRect">
            <a:avLst>
              <a:gd name="adj" fmla="val 8333"/>
            </a:avLst>
          </a:prstGeom>
          <a:solidFill>
            <a:srgbClr val="121A33"/>
          </a:solidFill>
          <a:ln w="9525">
            <a:solidFill>
              <a:srgbClr val="2A3563"/>
            </a:solidFill>
            <a:prstDash val="solid"/>
          </a:ln>
        </p:spPr>
      </p:sp>
      <p:sp>
        <p:nvSpPr>
          <p:cNvPr id="11" name="Text 9"/>
          <p:cNvSpPr txBox="1"/>
          <p:nvPr/>
        </p:nvSpPr>
        <p:spPr>
          <a:xfrm>
            <a:off x="3584448" y="1920240"/>
            <a:ext cx="2313432" cy="530352"/>
          </a:xfrm>
          <a:prstGeom prst="rect">
            <a:avLst/>
          </a:prstGeom>
          <a:noFill/>
          <a:ln/>
        </p:spPr>
        <p:txBody>
          <a:bodyPr wrap="square" lIns="0" tIns="0" rIns="0" bIns="0" rtlCol="0" anchor="ctr"/>
          <a:lstStyle/>
          <a:p>
            <a:pPr indent="0" marL="0">
              <a:buNone/>
            </a:pPr>
            <a:r>
              <a:rPr lang="en-US" sz="3200" b="1" dirty="0">
                <a:solidFill>
                  <a:srgbClr val="55E6FF"/>
                </a:solidFill>
                <a:latin typeface="Inter" pitchFamily="34" charset="0"/>
                <a:ea typeface="Inter" pitchFamily="34" charset="-122"/>
                <a:cs typeface="Inter" pitchFamily="34" charset="-120"/>
              </a:rPr>
              <a:t>99</a:t>
            </a:r>
            <a:endParaRPr lang="en-US" sz="3200" dirty="0"/>
          </a:p>
        </p:txBody>
      </p:sp>
      <p:sp>
        <p:nvSpPr>
          <p:cNvPr id="12" name="Text 10"/>
          <p:cNvSpPr txBox="1"/>
          <p:nvPr/>
        </p:nvSpPr>
        <p:spPr>
          <a:xfrm>
            <a:off x="358444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open findings</a:t>
            </a:r>
            <a:endParaRPr lang="en-US" sz="1200" dirty="0"/>
          </a:p>
        </p:txBody>
      </p:sp>
      <p:sp>
        <p:nvSpPr>
          <p:cNvPr id="13" name="Text 11"/>
          <p:cNvSpPr txBox="1"/>
          <p:nvPr/>
        </p:nvSpPr>
        <p:spPr>
          <a:xfrm>
            <a:off x="358444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21 critical · 47 high · 27 medium · 4 low</a:t>
            </a:r>
            <a:endParaRPr lang="en-US" sz="950" dirty="0"/>
          </a:p>
        </p:txBody>
      </p:sp>
      <p:sp>
        <p:nvSpPr>
          <p:cNvPr id="14" name="Shape 12"/>
          <p:cNvSpPr/>
          <p:nvPr/>
        </p:nvSpPr>
        <p:spPr>
          <a:xfrm>
            <a:off x="6217920" y="1828800"/>
            <a:ext cx="2587752" cy="1097280"/>
          </a:xfrm>
          <a:prstGeom prst="roundRect">
            <a:avLst>
              <a:gd name="adj" fmla="val 8333"/>
            </a:avLst>
          </a:prstGeom>
          <a:solidFill>
            <a:srgbClr val="121A33"/>
          </a:solidFill>
          <a:ln w="9525">
            <a:solidFill>
              <a:srgbClr val="6B3350"/>
            </a:solidFill>
            <a:prstDash val="solid"/>
          </a:ln>
        </p:spPr>
      </p:sp>
      <p:sp>
        <p:nvSpPr>
          <p:cNvPr id="15" name="Text 13"/>
          <p:cNvSpPr txBox="1"/>
          <p:nvPr/>
        </p:nvSpPr>
        <p:spPr>
          <a:xfrm>
            <a:off x="6419088" y="1920240"/>
            <a:ext cx="2313432" cy="530352"/>
          </a:xfrm>
          <a:prstGeom prst="rect">
            <a:avLst/>
          </a:prstGeom>
          <a:noFill/>
          <a:ln/>
        </p:spPr>
        <p:txBody>
          <a:bodyPr wrap="square" lIns="0" tIns="0" rIns="0" bIns="0" rtlCol="0" anchor="ctr"/>
          <a:lstStyle/>
          <a:p>
            <a:pPr indent="0" marL="0">
              <a:buNone/>
            </a:pPr>
            <a:r>
              <a:rPr lang="en-US" sz="3200" b="1" dirty="0">
                <a:solidFill>
                  <a:srgbClr val="FF8A9B"/>
                </a:solidFill>
                <a:latin typeface="Inter" pitchFamily="34" charset="0"/>
                <a:ea typeface="Inter" pitchFamily="34" charset="-122"/>
                <a:cs typeface="Inter" pitchFamily="34" charset="-120"/>
              </a:rPr>
              <a:t>47 → 99</a:t>
            </a:r>
            <a:endParaRPr lang="en-US" sz="3200" dirty="0"/>
          </a:p>
        </p:txBody>
      </p:sp>
      <p:sp>
        <p:nvSpPr>
          <p:cNvPr id="16" name="Text 14"/>
          <p:cNvSpPr txBox="1"/>
          <p:nvPr/>
        </p:nvSpPr>
        <p:spPr>
          <a:xfrm>
            <a:off x="641908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findings, month 1 → 12</a:t>
            </a:r>
            <a:endParaRPr lang="en-US" sz="1200" dirty="0"/>
          </a:p>
        </p:txBody>
      </p:sp>
      <p:sp>
        <p:nvSpPr>
          <p:cNvPr id="17" name="Text 15"/>
          <p:cNvSpPr txBox="1"/>
          <p:nvPr/>
        </p:nvSpPr>
        <p:spPr>
          <a:xfrm>
            <a:off x="641908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growth traced to broken offboarding</a:t>
            </a:r>
            <a:endParaRPr lang="en-US" sz="950" dirty="0"/>
          </a:p>
        </p:txBody>
      </p:sp>
      <p:sp>
        <p:nvSpPr>
          <p:cNvPr id="18" name="Shape 16"/>
          <p:cNvSpPr/>
          <p:nvPr/>
        </p:nvSpPr>
        <p:spPr>
          <a:xfrm>
            <a:off x="9052560" y="1828800"/>
            <a:ext cx="2587752" cy="1097280"/>
          </a:xfrm>
          <a:prstGeom prst="roundRect">
            <a:avLst>
              <a:gd name="adj" fmla="val 8333"/>
            </a:avLst>
          </a:prstGeom>
          <a:solidFill>
            <a:srgbClr val="121A33"/>
          </a:solidFill>
          <a:ln w="9525">
            <a:solidFill>
              <a:srgbClr val="6B3350"/>
            </a:solidFill>
            <a:prstDash val="solid"/>
          </a:ln>
        </p:spPr>
      </p:sp>
      <p:sp>
        <p:nvSpPr>
          <p:cNvPr id="19" name="Text 17"/>
          <p:cNvSpPr txBox="1"/>
          <p:nvPr/>
        </p:nvSpPr>
        <p:spPr>
          <a:xfrm>
            <a:off x="9253728" y="1920240"/>
            <a:ext cx="2313432" cy="530352"/>
          </a:xfrm>
          <a:prstGeom prst="rect">
            <a:avLst/>
          </a:prstGeom>
          <a:noFill/>
          <a:ln/>
        </p:spPr>
        <p:txBody>
          <a:bodyPr wrap="square" lIns="0" tIns="0" rIns="0" bIns="0" rtlCol="0" anchor="ctr"/>
          <a:lstStyle/>
          <a:p>
            <a:pPr indent="0" marL="0">
              <a:buNone/>
            </a:pPr>
            <a:r>
              <a:rPr lang="en-US" sz="3200" b="1" dirty="0">
                <a:solidFill>
                  <a:srgbClr val="FF8A9B"/>
                </a:solidFill>
                <a:latin typeface="Inter" pitchFamily="34" charset="0"/>
                <a:ea typeface="Inter" pitchFamily="34" charset="-122"/>
                <a:cs typeface="Inter" pitchFamily="34" charset="-120"/>
              </a:rPr>
              <a:t>318</a:t>
            </a:r>
            <a:endParaRPr lang="en-US" sz="3200" dirty="0"/>
          </a:p>
        </p:txBody>
      </p:sp>
      <p:sp>
        <p:nvSpPr>
          <p:cNvPr id="20" name="Text 18"/>
          <p:cNvSpPr txBox="1"/>
          <p:nvPr/>
        </p:nvSpPr>
        <p:spPr>
          <a:xfrm>
            <a:off x="925372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findings on a real AWS export</a:t>
            </a:r>
            <a:endParaRPr lang="en-US" sz="1200" dirty="0"/>
          </a:p>
        </p:txBody>
      </p:sp>
      <p:sp>
        <p:nvSpPr>
          <p:cNvPr id="21" name="Text 19"/>
          <p:cNvSpPr txBox="1"/>
          <p:nvPr/>
        </p:nvSpPr>
        <p:spPr>
          <a:xfrm>
            <a:off x="925372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122 real principals · R7 fired 36×</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182112"/>
          <a:ext cx="6812280" cy="914400"/>
        </p:xfrm>
        <a:graphic>
          <a:graphicData uri="http://schemas.openxmlformats.org/drawingml/2006/table">
            <a:tbl>
              <a:tblPr/>
              <a:tblGrid>
                <a:gridCol w="2697480"/>
                <a:gridCol w="4114800"/>
              </a:tblGrid>
              <a:tr h="329184">
                <a:tc>
                  <a:txBody>
                    <a:bodyPr/>
                    <a:lstStyle/>
                    <a:p>
                      <a:pPr indent="0" marL="0">
                        <a:buNone/>
                      </a:pPr>
                      <a:r>
                        <a:rPr lang="en-US" sz="1050" b="1" spc="200" kern="0" dirty="0">
                          <a:solidFill>
                            <a:srgbClr val="55E6FF"/>
                          </a:solidFill>
                          <a:latin typeface="Inter" pitchFamily="34" charset="0"/>
                          <a:ea typeface="Inter" pitchFamily="34" charset="-122"/>
                          <a:cs typeface="Inter" pitchFamily="34" charset="-120"/>
                        </a:rPr>
                        <a:t>OBJECTIVE</a:t>
                      </a:r>
                      <a:endParaRPr lang="en-US" sz="10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c>
                  <a:txBody>
                    <a:bodyPr/>
                    <a:lstStyle/>
                    <a:p>
                      <a:pPr indent="0" marL="0">
                        <a:buNone/>
                      </a:pPr>
                      <a:r>
                        <a:rPr lang="en-US" sz="1050" b="1" spc="200" kern="0" dirty="0">
                          <a:solidFill>
                            <a:srgbClr val="A3B0CF"/>
                          </a:solidFill>
                          <a:latin typeface="Inter" pitchFamily="34" charset="0"/>
                          <a:ea typeface="Inter" pitchFamily="34" charset="-122"/>
                          <a:cs typeface="Inter" pitchFamily="34" charset="-120"/>
                        </a:rPr>
                        <a:t>WHAT WE MEASURED</a:t>
                      </a:r>
                      <a:endParaRPr lang="en-US" sz="10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01  </a:t>
                      </a:r>
                      <a:pPr indent="0" marL="0">
                        <a:buNone/>
                      </a:pPr>
                      <a:r>
                        <a:rPr lang="en-US" sz="1250" b="1" dirty="0">
                          <a:solidFill>
                            <a:srgbClr val="FFFFFF"/>
                          </a:solidFill>
                          <a:latin typeface="Inter" pitchFamily="34" charset="0"/>
                          <a:ea typeface="Inter" pitchFamily="34" charset="-122"/>
                          <a:cs typeface="Inter" pitchFamily="34" charset="-120"/>
                        </a:rPr>
                        <a:t>Unified cross-cloud view</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735 principals → 507 identities; 104,593 grant rows in one model</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02  </a:t>
                      </a:r>
                      <a:pPr indent="0" marL="0">
                        <a:buNone/>
                      </a:pPr>
                      <a:r>
                        <a:rPr lang="en-US" sz="1250" b="1" dirty="0">
                          <a:solidFill>
                            <a:srgbClr val="FFFFFF"/>
                          </a:solidFill>
                          <a:latin typeface="Inter" pitchFamily="34" charset="0"/>
                          <a:ea typeface="Inter" pitchFamily="34" charset="-122"/>
                          <a:cs typeface="Inter" pitchFamily="34" charset="-120"/>
                        </a:rPr>
                        <a:t>Ranked, explainable risk</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Blast-radius ranking, 3-altitude explanations; one approved fix: 100 → 0</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03  </a:t>
                      </a:r>
                      <a:pPr indent="0" marL="0">
                        <a:buNone/>
                      </a:pPr>
                      <a:r>
                        <a:rPr lang="en-US" sz="1250" b="1" dirty="0">
                          <a:solidFill>
                            <a:srgbClr val="FFFFFF"/>
                          </a:solidFill>
                          <a:latin typeface="Inter" pitchFamily="34" charset="0"/>
                          <a:ea typeface="Inter" pitchFamily="34" charset="-122"/>
                          <a:cs typeface="Inter" pitchFamily="34" charset="-120"/>
                        </a:rPr>
                        <a:t>Tamper-evident audit trail</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Scans and decisions Merkle-anchored; a tampered finding is caught</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   </a:t>
                      </a:r>
                      <a:pPr indent="0" marL="0">
                        <a:buNone/>
                      </a:pPr>
                      <a:r>
                        <a:rPr lang="en-US" sz="1250" b="1" dirty="0">
                          <a:solidFill>
                            <a:srgbClr val="FFFFFF"/>
                          </a:solidFill>
                          <a:latin typeface="Inter" pitchFamily="34" charset="0"/>
                          <a:ea typeface="Inter" pitchFamily="34" charset="-122"/>
                          <a:cs typeface="Inter" pitchFamily="34" charset="-120"/>
                        </a:rPr>
                        <a:t>Robust and repeatable</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Broken inputs handled; second run: 12× already anchored</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bl>
          </a:graphicData>
        </a:graphic>
      </p:graphicFrame>
      <p:sp>
        <p:nvSpPr>
          <p:cNvPr id="23" name="Shape 20"/>
          <p:cNvSpPr/>
          <p:nvPr/>
        </p:nvSpPr>
        <p:spPr>
          <a:xfrm>
            <a:off x="7635240" y="3182112"/>
            <a:ext cx="4005072" cy="2157984"/>
          </a:xfrm>
          <a:prstGeom prst="roundRect">
            <a:avLst>
              <a:gd name="adj" fmla="val 4237"/>
            </a:avLst>
          </a:prstGeom>
          <a:solidFill>
            <a:srgbClr val="121A33"/>
          </a:solidFill>
          <a:ln w="9525">
            <a:solidFill>
              <a:srgbClr val="2A3563"/>
            </a:solidFill>
            <a:prstDash val="solid"/>
          </a:ln>
        </p:spPr>
      </p:sp>
      <p:sp>
        <p:nvSpPr>
          <p:cNvPr id="24" name="Text 21"/>
          <p:cNvSpPr txBox="1"/>
          <p:nvPr/>
        </p:nvSpPr>
        <p:spPr>
          <a:xfrm>
            <a:off x="7863840" y="3337560"/>
            <a:ext cx="3639312" cy="219456"/>
          </a:xfrm>
          <a:prstGeom prst="rect">
            <a:avLst/>
          </a:prstGeom>
          <a:noFill/>
          <a:ln/>
        </p:spPr>
        <p:txBody>
          <a:bodyPr wrap="square" lIns="0" tIns="0" rIns="0" bIns="0" rtlCol="0" anchor="t"/>
          <a:lstStyle/>
          <a:p>
            <a:pPr indent="0" marL="0">
              <a:buNone/>
            </a:pPr>
            <a:r>
              <a:rPr lang="en-US" sz="1050" b="1" spc="200" kern="0" dirty="0">
                <a:solidFill>
                  <a:srgbClr val="8B7CFF"/>
                </a:solidFill>
                <a:latin typeface="Inter" pitchFamily="34" charset="0"/>
                <a:ea typeface="Inter" pitchFamily="34" charset="-122"/>
                <a:cs typeface="Inter" pitchFamily="34" charset="-120"/>
              </a:rPr>
              <a:t>WHAT A GOVERNANCE TEAM GETS</a:t>
            </a:r>
            <a:endParaRPr lang="en-US" sz="1050" dirty="0"/>
          </a:p>
        </p:txBody>
      </p:sp>
      <p:pic>
        <p:nvPicPr>
          <p:cNvPr id="25" name="Image 0" descr="/home/claude/athar/img/check_c.png">    </p:cNvPr>
          <p:cNvPicPr>
            <a:picLocks noChangeAspect="1"/>
          </p:cNvPicPr>
          <p:nvPr/>
        </p:nvPicPr>
        <p:blipFill>
          <a:blip r:embed="rId2"/>
          <a:stretch>
            <a:fillRect/>
          </a:stretch>
        </p:blipFill>
        <p:spPr>
          <a:xfrm>
            <a:off x="7863840" y="3776472"/>
            <a:ext cx="201168" cy="201168"/>
          </a:xfrm>
          <a:prstGeom prst="rect">
            <a:avLst/>
          </a:prstGeom>
        </p:spPr>
      </p:pic>
      <p:sp>
        <p:nvSpPr>
          <p:cNvPr id="26" name="Text 22"/>
          <p:cNvSpPr txBox="1"/>
          <p:nvPr/>
        </p:nvSpPr>
        <p:spPr>
          <a:xfrm>
            <a:off x="8183880" y="3730752"/>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One view of who can do what, since when</a:t>
            </a:r>
            <a:endParaRPr lang="en-US" sz="1200" dirty="0"/>
          </a:p>
        </p:txBody>
      </p:sp>
      <p:pic>
        <p:nvPicPr>
          <p:cNvPr id="27" name="Image 1" descr="/home/claude/athar/img/check_c.png">    </p:cNvPr>
          <p:cNvPicPr>
            <a:picLocks noChangeAspect="1"/>
          </p:cNvPicPr>
          <p:nvPr/>
        </p:nvPicPr>
        <p:blipFill>
          <a:blip r:embed="rId3"/>
          <a:stretch>
            <a:fillRect/>
          </a:stretch>
        </p:blipFill>
        <p:spPr>
          <a:xfrm>
            <a:off x="7863840" y="4160520"/>
            <a:ext cx="201168" cy="201168"/>
          </a:xfrm>
          <a:prstGeom prst="rect">
            <a:avLst/>
          </a:prstGeom>
        </p:spPr>
      </p:pic>
      <p:sp>
        <p:nvSpPr>
          <p:cNvPr id="28" name="Text 23"/>
          <p:cNvSpPr txBox="1"/>
          <p:nvPr/>
        </p:nvSpPr>
        <p:spPr>
          <a:xfrm>
            <a:off x="8183880" y="4114800"/>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Root causes, e.g. broken offboarding</a:t>
            </a:r>
            <a:endParaRPr lang="en-US" sz="1200" dirty="0"/>
          </a:p>
        </p:txBody>
      </p:sp>
      <p:pic>
        <p:nvPicPr>
          <p:cNvPr id="29" name="Image 2" descr="/home/claude/athar/img/check_c.png">    </p:cNvPr>
          <p:cNvPicPr>
            <a:picLocks noChangeAspect="1"/>
          </p:cNvPicPr>
          <p:nvPr/>
        </p:nvPicPr>
        <p:blipFill>
          <a:blip r:embed="rId4"/>
          <a:stretch>
            <a:fillRect/>
          </a:stretch>
        </p:blipFill>
        <p:spPr>
          <a:xfrm>
            <a:off x="7863840" y="4544568"/>
            <a:ext cx="201168" cy="201168"/>
          </a:xfrm>
          <a:prstGeom prst="rect">
            <a:avLst/>
          </a:prstGeom>
        </p:spPr>
      </p:pic>
      <p:sp>
        <p:nvSpPr>
          <p:cNvPr id="30" name="Text 24"/>
          <p:cNvSpPr txBox="1"/>
          <p:nvPr/>
        </p:nvSpPr>
        <p:spPr>
          <a:xfrm>
            <a:off x="8183880" y="4498848"/>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Drafted fixes — via dashboard or MCP — human-approved with SoD</a:t>
            </a:r>
            <a:endParaRPr lang="en-US" sz="1200" dirty="0"/>
          </a:p>
        </p:txBody>
      </p:sp>
      <p:pic>
        <p:nvPicPr>
          <p:cNvPr id="31" name="Image 3" descr="/home/claude/athar/img/check_c.png">    </p:cNvPr>
          <p:cNvPicPr>
            <a:picLocks noChangeAspect="1"/>
          </p:cNvPicPr>
          <p:nvPr/>
        </p:nvPicPr>
        <p:blipFill>
          <a:blip r:embed="rId5"/>
          <a:stretch>
            <a:fillRect/>
          </a:stretch>
        </p:blipFill>
        <p:spPr>
          <a:xfrm>
            <a:off x="7863840" y="4928616"/>
            <a:ext cx="201168" cy="201168"/>
          </a:xfrm>
          <a:prstGeom prst="rect">
            <a:avLst/>
          </a:prstGeom>
        </p:spPr>
      </p:pic>
      <p:sp>
        <p:nvSpPr>
          <p:cNvPr id="32" name="Text 25"/>
          <p:cNvSpPr txBox="1"/>
          <p:nvPr/>
        </p:nvSpPr>
        <p:spPr>
          <a:xfrm>
            <a:off x="8183880" y="4882896"/>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Evidence auditors can re-verify themselves</a:t>
            </a:r>
            <a:endParaRPr lang="en-US" sz="1200" dirty="0"/>
          </a:p>
        </p:txBody>
      </p:sp>
      <p:sp>
        <p:nvSpPr>
          <p:cNvPr id="33" name="Shape 26"/>
          <p:cNvSpPr/>
          <p:nvPr/>
        </p:nvSpPr>
        <p:spPr>
          <a:xfrm>
            <a:off x="548640" y="5559552"/>
            <a:ext cx="6812280" cy="795528"/>
          </a:xfrm>
          <a:prstGeom prst="roundRect">
            <a:avLst>
              <a:gd name="adj" fmla="val 11494"/>
            </a:avLst>
          </a:prstGeom>
          <a:solidFill>
            <a:srgbClr val="121A33"/>
          </a:solidFill>
          <a:ln w="9525">
            <a:solidFill>
              <a:srgbClr val="2A3563"/>
            </a:solidFill>
            <a:prstDash val="solid"/>
          </a:ln>
        </p:spPr>
      </p:sp>
      <p:sp>
        <p:nvSpPr>
          <p:cNvPr id="34" name="Text 27"/>
          <p:cNvSpPr txBox="1"/>
          <p:nvPr/>
        </p:nvSpPr>
        <p:spPr>
          <a:xfrm>
            <a:off x="777240" y="5650992"/>
            <a:ext cx="6400800" cy="256032"/>
          </a:xfrm>
          <a:prstGeom prst="rect">
            <a:avLst/>
          </a:prstGeom>
          <a:noFill/>
          <a:ln/>
        </p:spPr>
        <p:txBody>
          <a:bodyPr wrap="square" lIns="0" tIns="0" rIns="0" bIns="0" rtlCol="0" anchor="ctr"/>
          <a:lstStyle/>
          <a:p>
            <a:pPr indent="0" marL="0">
              <a:buNone/>
            </a:pPr>
            <a:r>
              <a:rPr lang="en-US" sz="1050" b="1" spc="200" kern="0" dirty="0">
                <a:solidFill>
                  <a:srgbClr val="FF8A9B"/>
                </a:solidFill>
                <a:latin typeface="Inter" pitchFamily="34" charset="0"/>
                <a:ea typeface="Inter" pitchFamily="34" charset="-122"/>
                <a:cs typeface="Inter" pitchFamily="34" charset="-120"/>
              </a:rPr>
              <a:t>LIMITS TODAY  </a:t>
            </a:r>
            <a:pPr indent="0" marL="0">
              <a:buNone/>
            </a:pPr>
            <a:r>
              <a:rPr lang="en-US" sz="1150" dirty="0">
                <a:solidFill>
                  <a:srgbClr val="A3B0CF"/>
                </a:solidFill>
                <a:latin typeface="Inter" pitchFamily="34" charset="0"/>
                <a:ea typeface="Inter" pitchFamily="34" charset="-122"/>
                <a:cs typeface="Inter" pitchFamily="34" charset="-120"/>
              </a:rPr>
              <a:t>Single-host writer key · simulated apply · mapping coverage on real AWS</a:t>
            </a:r>
            <a:endParaRPr lang="en-US" sz="1050" dirty="0"/>
          </a:p>
        </p:txBody>
      </p:sp>
      <p:sp>
        <p:nvSpPr>
          <p:cNvPr id="35" name="Text 28"/>
          <p:cNvSpPr txBox="1"/>
          <p:nvPr/>
        </p:nvSpPr>
        <p:spPr>
          <a:xfrm>
            <a:off x="777240" y="5989320"/>
            <a:ext cx="502920" cy="274320"/>
          </a:xfrm>
          <a:prstGeom prst="rect">
            <a:avLst/>
          </a:prstGeom>
          <a:noFill/>
          <a:ln/>
        </p:spPr>
        <p:txBody>
          <a:bodyPr wrap="square" lIns="0" tIns="0" rIns="0" bIns="0" rtlCol="0" anchor="ctr"/>
          <a:lstStyle/>
          <a:p>
            <a:pPr indent="0" marL="0">
              <a:buNone/>
            </a:pPr>
            <a:r>
              <a:rPr lang="en-US" sz="1050" b="1" spc="100" kern="0" dirty="0">
                <a:solidFill>
                  <a:srgbClr val="55E6FF"/>
                </a:solidFill>
                <a:latin typeface="Inter" pitchFamily="34" charset="0"/>
                <a:ea typeface="Inter" pitchFamily="34" charset="-122"/>
                <a:cs typeface="Inter" pitchFamily="34" charset="-120"/>
              </a:rPr>
              <a:t>NEXT</a:t>
            </a:r>
            <a:endParaRPr lang="en-US" sz="1050" dirty="0"/>
          </a:p>
        </p:txBody>
      </p:sp>
      <p:sp>
        <p:nvSpPr>
          <p:cNvPr id="36" name="Shape 29"/>
          <p:cNvSpPr/>
          <p:nvPr/>
        </p:nvSpPr>
        <p:spPr>
          <a:xfrm>
            <a:off x="1325880" y="5989320"/>
            <a:ext cx="1572768" cy="274320"/>
          </a:xfrm>
          <a:prstGeom prst="roundRect">
            <a:avLst>
              <a:gd name="adj" fmla="val 50000"/>
            </a:avLst>
          </a:prstGeom>
          <a:solidFill>
            <a:srgbClr val="10304A"/>
          </a:solidFill>
          <a:ln w="9525">
            <a:solidFill>
              <a:srgbClr val="2C6A86"/>
            </a:solidFill>
            <a:prstDash val="solid"/>
          </a:ln>
        </p:spPr>
      </p:sp>
      <p:sp>
        <p:nvSpPr>
          <p:cNvPr id="37" name="Text 30"/>
          <p:cNvSpPr txBox="1"/>
          <p:nvPr/>
        </p:nvSpPr>
        <p:spPr>
          <a:xfrm>
            <a:off x="1325880" y="5989320"/>
            <a:ext cx="1572768"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HSM-backed writer key</a:t>
            </a:r>
            <a:endParaRPr lang="en-US" sz="1050" dirty="0"/>
          </a:p>
        </p:txBody>
      </p:sp>
      <p:sp>
        <p:nvSpPr>
          <p:cNvPr id="38" name="Shape 31"/>
          <p:cNvSpPr/>
          <p:nvPr/>
        </p:nvSpPr>
        <p:spPr>
          <a:xfrm>
            <a:off x="2971800" y="5989320"/>
            <a:ext cx="1444752" cy="274320"/>
          </a:xfrm>
          <a:prstGeom prst="roundRect">
            <a:avLst>
              <a:gd name="adj" fmla="val 50000"/>
            </a:avLst>
          </a:prstGeom>
          <a:solidFill>
            <a:srgbClr val="10304A"/>
          </a:solidFill>
          <a:ln w="9525">
            <a:solidFill>
              <a:srgbClr val="2C6A86"/>
            </a:solidFill>
            <a:prstDash val="solid"/>
          </a:ln>
        </p:spPr>
      </p:sp>
      <p:sp>
        <p:nvSpPr>
          <p:cNvPr id="39" name="Text 32"/>
          <p:cNvSpPr txBox="1"/>
          <p:nvPr/>
        </p:nvSpPr>
        <p:spPr>
          <a:xfrm>
            <a:off x="2971800" y="5989320"/>
            <a:ext cx="1444752"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Per-approver wallets</a:t>
            </a:r>
            <a:endParaRPr lang="en-US" sz="1050" dirty="0"/>
          </a:p>
        </p:txBody>
      </p:sp>
      <p:sp>
        <p:nvSpPr>
          <p:cNvPr id="40" name="Shape 33"/>
          <p:cNvSpPr/>
          <p:nvPr/>
        </p:nvSpPr>
        <p:spPr>
          <a:xfrm>
            <a:off x="4489704" y="5989320"/>
            <a:ext cx="1353312" cy="274320"/>
          </a:xfrm>
          <a:prstGeom prst="roundRect">
            <a:avLst>
              <a:gd name="adj" fmla="val 50000"/>
            </a:avLst>
          </a:prstGeom>
          <a:solidFill>
            <a:srgbClr val="10304A"/>
          </a:solidFill>
          <a:ln w="9525">
            <a:solidFill>
              <a:srgbClr val="2C6A86"/>
            </a:solidFill>
            <a:prstDash val="solid"/>
          </a:ln>
        </p:spPr>
      </p:sp>
      <p:sp>
        <p:nvSpPr>
          <p:cNvPr id="41" name="Text 34"/>
          <p:cNvSpPr txBox="1"/>
          <p:nvPr/>
        </p:nvSpPr>
        <p:spPr>
          <a:xfrm>
            <a:off x="4489704" y="5989320"/>
            <a:ext cx="1353312"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Permissioned chain</a:t>
            </a:r>
            <a:endParaRPr lang="en-US" sz="1050" dirty="0"/>
          </a:p>
        </p:txBody>
      </p:sp>
      <p:sp>
        <p:nvSpPr>
          <p:cNvPr id="42" name="Shape 35"/>
          <p:cNvSpPr/>
          <p:nvPr/>
        </p:nvSpPr>
        <p:spPr>
          <a:xfrm>
            <a:off x="5916168" y="5989320"/>
            <a:ext cx="1207008" cy="274320"/>
          </a:xfrm>
          <a:prstGeom prst="roundRect">
            <a:avLst>
              <a:gd name="adj" fmla="val 50000"/>
            </a:avLst>
          </a:prstGeom>
          <a:solidFill>
            <a:srgbClr val="10304A"/>
          </a:solidFill>
          <a:ln w="9525">
            <a:solidFill>
              <a:srgbClr val="2C6A86"/>
            </a:solidFill>
            <a:prstDash val="solid"/>
          </a:ln>
        </p:spPr>
      </p:sp>
      <p:sp>
        <p:nvSpPr>
          <p:cNvPr id="43" name="Text 36"/>
          <p:cNvSpPr txBox="1"/>
          <p:nvPr/>
        </p:nvSpPr>
        <p:spPr>
          <a:xfrm>
            <a:off x="5916168" y="5989320"/>
            <a:ext cx="1207008"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Live government estate</a:t>
            </a:r>
            <a:endParaRPr lang="en-US" sz="1050" dirty="0"/>
          </a:p>
        </p:txBody>
      </p:sp>
      <p:sp>
        <p:nvSpPr>
          <p:cNvPr id="44" name="Shape 37"/>
          <p:cNvSpPr/>
          <p:nvPr/>
        </p:nvSpPr>
        <p:spPr>
          <a:xfrm>
            <a:off x="7635240" y="5559552"/>
            <a:ext cx="4005072" cy="795528"/>
          </a:xfrm>
          <a:prstGeom prst="roundRect">
            <a:avLst>
              <a:gd name="adj" fmla="val 11494"/>
            </a:avLst>
          </a:prstGeom>
          <a:solidFill>
            <a:srgbClr val="10304A"/>
          </a:solidFill>
          <a:ln w="15875">
            <a:solidFill>
              <a:srgbClr val="55E6FF"/>
            </a:solidFill>
            <a:prstDash val="solid"/>
          </a:ln>
        </p:spPr>
      </p:sp>
      <p:sp>
        <p:nvSpPr>
          <p:cNvPr id="45" name="Text 38"/>
          <p:cNvSpPr txBox="1"/>
          <p:nvPr/>
        </p:nvSpPr>
        <p:spPr>
          <a:xfrm>
            <a:off x="7726680" y="5559552"/>
            <a:ext cx="3822192" cy="7955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Don’t trust the report.</a:t>
            </a:r>
            <a:endParaRPr lang="en-US" sz="2000" dirty="0"/>
          </a:p>
          <a:p>
            <a:pPr algn="ctr" indent="0" marL="0">
              <a:buNone/>
            </a:pPr>
            <a:r>
              <a:rPr lang="en-US" sz="2000" b="1" dirty="0">
                <a:solidFill>
                  <a:srgbClr val="55E6FF"/>
                </a:solidFill>
                <a:latin typeface="Inter" pitchFamily="34" charset="0"/>
                <a:ea typeface="Inter" pitchFamily="34" charset="-122"/>
                <a:cs typeface="Inter" pitchFamily="34" charset="-120"/>
              </a:rPr>
              <a:t>Verify it.</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ATHAR — GISEC Hackathon</dc:title>
  <dc:subject>PptxGenJS Presentation</dc:subject>
  <dc:creator>Team ATHAR</dc:creator>
  <cp:lastModifiedBy>Team ATHAR</cp:lastModifiedBy>
  <cp:revision>1</cp:revision>
  <dcterms:created xsi:type="dcterms:W3CDTF">2026-09-16T17:27:44Z</dcterms:created>
  <dcterms:modified xsi:type="dcterms:W3CDTF">2026-09-16T17:27:44Z</dcterms:modified>
</cp:coreProperties>
</file>